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7C756B"/>
                </a:solidFill>
                <a:latin typeface="Calibri"/>
              </a:rPr>
              <a:t>STAT 4830    ·    SPRING 2026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1143000"/>
            <a:ext cx="2377440" cy="0"/>
          </a:xfrm>
          <a:prstGeom prst="line">
            <a:avLst/>
          </a:prstGeom>
          <a:ln w="13970">
            <a:solidFill>
              <a:srgbClr val="1C19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31520" y="1874519"/>
            <a:ext cx="10789920" cy="9144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200" b="0" i="0">
                <a:solidFill>
                  <a:srgbClr val="1C1917"/>
                </a:solidFill>
                <a:latin typeface="Georgia"/>
              </a:rPr>
              <a:t>Lower Bounds for the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51760"/>
            <a:ext cx="10789920" cy="10972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200" b="0" i="1">
                <a:solidFill>
                  <a:srgbClr val="1C1917"/>
                </a:solidFill>
                <a:latin typeface="Georgia"/>
              </a:rPr>
              <a:t>Autoconvolution Constant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94760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7C756B"/>
                </a:solidFill>
                <a:latin typeface="Calibri"/>
              </a:rPr>
              <a:t>Three parallel attacks on   </a:t>
            </a:r>
            <a:r>
              <a:rPr sz="2600" b="0" i="1">
                <a:solidFill>
                  <a:srgbClr val="1C1917"/>
                </a:solidFill>
                <a:latin typeface="Georgia"/>
              </a:rPr>
              <a:t>C₁ₐ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31520" y="4800600"/>
            <a:ext cx="10789920" cy="0"/>
          </a:xfrm>
          <a:prstGeom prst="line">
            <a:avLst/>
          </a:prstGeom>
          <a:ln w="9525">
            <a:solidFill>
              <a:srgbClr val="D6CD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31520" y="4983480"/>
            <a:ext cx="1078992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C1917"/>
                </a:solidFill>
                <a:latin typeface="Calibri"/>
              </a:rPr>
              <a:t>Andrei Piterbarg     Jai Bajaj     Derrick Vincent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5806440"/>
            <a:ext cx="457200" cy="109728"/>
          </a:xfrm>
          <a:prstGeom prst="rect">
            <a:avLst/>
          </a:prstGeom>
          <a:solidFill>
            <a:srgbClr val="254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98448" y="5769864"/>
            <a:ext cx="22860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C1917"/>
                </a:solidFill>
                <a:latin typeface="Calibri"/>
              </a:rPr>
              <a:t>I.  Cascade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64992" y="5806440"/>
            <a:ext cx="457200" cy="109728"/>
          </a:xfrm>
          <a:prstGeom prst="rect">
            <a:avLst/>
          </a:prstGeom>
          <a:solidFill>
            <a:srgbClr val="3A54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31920" y="5769864"/>
            <a:ext cx="22860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C1917"/>
                </a:solidFill>
                <a:latin typeface="Calibri"/>
              </a:rPr>
              <a:t>II.  SDP certificate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8464" y="5806440"/>
            <a:ext cx="457200" cy="109728"/>
          </a:xfrm>
          <a:prstGeom prst="rect">
            <a:avLst/>
          </a:prstGeom>
          <a:solidFill>
            <a:srgbClr val="8E3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65392" y="5769864"/>
            <a:ext cx="22860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C1917"/>
                </a:solidFill>
                <a:latin typeface="Calibri"/>
              </a:rPr>
              <a:t>III.  MATLAB audit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6424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7C756B"/>
                </a:solidFill>
                <a:latin typeface="Calibri"/>
              </a:rPr>
              <a:t>§1 · 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1C1917"/>
                </a:solidFill>
                <a:latin typeface="Georgia"/>
              </a:rPr>
              <a:t>How small can the peak of a normalized self-convolution be?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35024"/>
            <a:ext cx="11064240" cy="0"/>
          </a:xfrm>
          <a:prstGeom prst="line">
            <a:avLst/>
          </a:prstGeom>
          <a:ln w="9525">
            <a:solidFill>
              <a:srgbClr val="D6CD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1691640"/>
            <a:ext cx="576072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C1917"/>
                </a:solidFill>
                <a:latin typeface="Calibri"/>
              </a:rPr>
              <a:t>Given  </a:t>
            </a:r>
            <a:r>
              <a:rPr sz="1900" b="0" i="1">
                <a:solidFill>
                  <a:srgbClr val="25435F"/>
                </a:solidFill>
                <a:latin typeface="Georgia"/>
              </a:rPr>
              <a:t>f : ℝ → ℝ₊</a:t>
            </a:r>
            <a:r>
              <a:rPr sz="1800" b="0" i="0">
                <a:solidFill>
                  <a:srgbClr val="1C1917"/>
                </a:solidFill>
                <a:latin typeface="Calibri"/>
              </a:rPr>
              <a:t>  with  supp </a:t>
            </a:r>
            <a:r>
              <a:rPr sz="1800" b="0" i="1">
                <a:solidFill>
                  <a:srgbClr val="1C1917"/>
                </a:solidFill>
                <a:latin typeface="Georgia"/>
              </a:rPr>
              <a:t>f</a:t>
            </a:r>
            <a:r>
              <a:rPr sz="1800" b="0" i="0">
                <a:solidFill>
                  <a:srgbClr val="1C1917"/>
                </a:solidFill>
                <a:latin typeface="Calibri"/>
              </a:rPr>
              <a:t>  ⊆  [−¼, ¼]</a:t>
            </a:r>
          </a:p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C1917"/>
                </a:solidFill>
                <a:latin typeface="Calibri"/>
              </a:rPr>
              <a:t>and  </a:t>
            </a:r>
            <a:r>
              <a:rPr sz="1800" b="0" i="1">
                <a:solidFill>
                  <a:srgbClr val="1C1917"/>
                </a:solidFill>
                <a:latin typeface="Georgia"/>
              </a:rPr>
              <a:t>∫ f = 1</a:t>
            </a:r>
            <a:r>
              <a:rPr sz="1800" b="0" i="0">
                <a:solidFill>
                  <a:srgbClr val="1C1917"/>
                </a:solidFill>
                <a:latin typeface="Calibri"/>
              </a:rPr>
              <a:t>,   define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C1917"/>
                </a:solidFill>
                <a:latin typeface="Calibri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3400" b="0" i="1">
                <a:solidFill>
                  <a:srgbClr val="1C1917"/>
                </a:solidFill>
                <a:latin typeface="Georgia"/>
              </a:rPr>
              <a:t>C₁ₐ  =  inf  ‖ f ∗ f ‖∞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C1917"/>
                </a:solidFill>
                <a:latin typeface="Calibri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7C756B"/>
                </a:solidFill>
                <a:latin typeface="Calibri"/>
              </a:rPr>
              <a:t>·  connected to Sidon  /  generalized Sidon set densities</a:t>
            </a:r>
          </a:p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7C756B"/>
                </a:solidFill>
                <a:latin typeface="Calibri"/>
              </a:rPr>
              <a:t>·  best published bounds  have not moved  since 2017</a:t>
            </a:r>
          </a:p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7C756B"/>
                </a:solidFill>
                <a:latin typeface="Calibri"/>
              </a:rPr>
              <a:t>·  every improvement is a real contribution</a:t>
            </a:r>
          </a:p>
        </p:txBody>
      </p:sp>
      <p:pic>
        <p:nvPicPr>
          <p:cNvPr id="7" name="Picture 6" descr="fig_autoconv_intu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828800"/>
            <a:ext cx="5394960" cy="1514484"/>
          </a:xfrm>
          <a:prstGeom prst="rect">
            <a:avLst/>
          </a:prstGeom>
        </p:spPr>
      </p:pic>
      <p:cxnSp>
        <p:nvCxnSpPr>
          <p:cNvPr id="8" name="Connector 7"/>
          <p:cNvCxnSpPr/>
          <p:nvPr/>
        </p:nvCxnSpPr>
        <p:spPr>
          <a:xfrm>
            <a:off x="548640" y="5212080"/>
            <a:ext cx="11064240" cy="0"/>
          </a:xfrm>
          <a:prstGeom prst="line">
            <a:avLst/>
          </a:prstGeom>
          <a:ln w="9525">
            <a:solidFill>
              <a:srgbClr val="D6CD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5349240"/>
            <a:ext cx="110642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7C756B"/>
                </a:solidFill>
                <a:latin typeface="Calibri"/>
              </a:rPr>
              <a:t>BEST PUBLISHED BOUNDS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62356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 i="0">
                <a:solidFill>
                  <a:srgbClr val="25435F"/>
                </a:solidFill>
                <a:latin typeface="Georgia"/>
              </a:rPr>
              <a:t>1.2802</a:t>
            </a:r>
            <a:r>
              <a:rPr sz="2400" b="0" i="0">
                <a:solidFill>
                  <a:srgbClr val="7C756B"/>
                </a:solidFill>
                <a:latin typeface="Calibri"/>
              </a:rPr>
              <a:t>   ≤   </a:t>
            </a:r>
            <a:r>
              <a:rPr sz="2800" b="0" i="1">
                <a:solidFill>
                  <a:srgbClr val="1C1917"/>
                </a:solidFill>
                <a:latin typeface="Georgia"/>
              </a:rPr>
              <a:t>C₁ₐ</a:t>
            </a:r>
            <a:r>
              <a:rPr sz="2400" b="0" i="0">
                <a:solidFill>
                  <a:srgbClr val="7C756B"/>
                </a:solidFill>
                <a:latin typeface="Calibri"/>
              </a:rPr>
              <a:t>   ≤   </a:t>
            </a:r>
            <a:r>
              <a:rPr sz="2800" b="1" i="0">
                <a:solidFill>
                  <a:srgbClr val="8E3A38"/>
                </a:solidFill>
                <a:latin typeface="Georgia"/>
              </a:rPr>
              <a:t>1.5029</a:t>
            </a:r>
            <a:r>
              <a:rPr sz="1400" b="0" i="1">
                <a:solidFill>
                  <a:srgbClr val="7C756B"/>
                </a:solidFill>
                <a:latin typeface="Calibri"/>
              </a:rPr>
              <a:t>        unchanged since 2017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C756B"/>
                </a:solidFill>
                <a:latin typeface="Calibri"/>
              </a:rPr>
              <a:t>Piterbarg  ·  Bajaj  ·  Vincent        STAT 4830  —  Spring 2026</a:t>
            </a:r>
          </a:p>
        </p:txBody>
      </p:sp>
      <p:sp>
        <p:nvSpPr>
          <p:cNvPr id="12" name="Oval 11"/>
          <p:cNvSpPr/>
          <p:nvPr/>
        </p:nvSpPr>
        <p:spPr>
          <a:xfrm>
            <a:off x="11599164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434572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269980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105388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940796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776204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11612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447020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282428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117836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953244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788652" y="6560820"/>
            <a:ext cx="82296" cy="82296"/>
          </a:xfrm>
          <a:prstGeom prst="ellipse">
            <a:avLst/>
          </a:prstGeom>
          <a:solidFill>
            <a:srgbClr val="1C19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624060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C7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6424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7C756B"/>
                </a:solidFill>
                <a:latin typeface="Calibri"/>
              </a:rPr>
              <a:t>§2 · PRIOR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1C1917"/>
                </a:solidFill>
                <a:latin typeface="Georgia"/>
              </a:rPr>
              <a:t>Cloninger–Steinerberger 2017: branch-and-prune over Bₙ,ₘ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35024"/>
            <a:ext cx="11064240" cy="0"/>
          </a:xfrm>
          <a:prstGeom prst="line">
            <a:avLst/>
          </a:prstGeom>
          <a:ln w="9525">
            <a:solidFill>
              <a:srgbClr val="D6CD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45920"/>
            <a:ext cx="68580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C1917"/>
                </a:solidFill>
                <a:latin typeface="Georgia"/>
              </a:rPr>
              <a:t>1.  Discretize</a:t>
            </a:r>
          </a:p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1C1917"/>
                </a:solidFill>
                <a:latin typeface="Calibri"/>
              </a:rPr>
              <a:t>partition  [−¼, ¼]  into  </a:t>
            </a:r>
            <a:r>
              <a:rPr sz="1400" b="0" i="1">
                <a:solidFill>
                  <a:srgbClr val="1C1917"/>
                </a:solidFill>
                <a:latin typeface="Georgia"/>
              </a:rPr>
              <a:t>d = 2n</a:t>
            </a:r>
            <a:r>
              <a:rPr sz="1400" b="0" i="0">
                <a:solidFill>
                  <a:srgbClr val="1C1917"/>
                </a:solidFill>
                <a:latin typeface="Calibri"/>
              </a:rPr>
              <a:t>  bins;  approximate  </a:t>
            </a:r>
            <a:r>
              <a:rPr sz="1400" b="0" i="1">
                <a:solidFill>
                  <a:srgbClr val="1C1917"/>
                </a:solidFill>
                <a:latin typeface="Georgia"/>
              </a:rPr>
              <a:t>f</a:t>
            </a:r>
            <a:r>
              <a:rPr sz="1400" b="0" i="0">
                <a:solidFill>
                  <a:srgbClr val="1C1917"/>
                </a:solidFill>
                <a:latin typeface="Calibri"/>
              </a:rPr>
              <a:t>  by a step function  </a:t>
            </a:r>
            <a:r>
              <a:rPr sz="1400" b="0" i="1">
                <a:solidFill>
                  <a:srgbClr val="1C1917"/>
                </a:solidFill>
                <a:latin typeface="Georgia"/>
              </a:rPr>
              <a:t>g</a:t>
            </a:r>
            <a:r>
              <a:rPr sz="1400" b="0" i="0">
                <a:solidFill>
                  <a:srgbClr val="1C1917"/>
                </a:solidFill>
                <a:latin typeface="Calibri"/>
              </a:rPr>
              <a:t>  with heights in  (1/m)ℕ</a:t>
            </a:r>
          </a:p>
          <a:p>
            <a:pPr algn="l">
              <a:lnSpc>
                <a:spcPct val="120000"/>
              </a:lnSpc>
            </a:pPr>
            <a:r>
              <a:rPr sz="600" b="0" i="0">
                <a:solidFill>
                  <a:srgbClr val="1C1917"/>
                </a:solidFill>
                <a:latin typeface="Calibri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C1917"/>
                </a:solidFill>
                <a:latin typeface="Georgia"/>
              </a:rPr>
              <a:t>2.  Windowed test values</a:t>
            </a:r>
          </a:p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1C1917"/>
                </a:solidFill>
                <a:latin typeface="Calibri"/>
              </a:rPr>
              <a:t>for each window  W,  lower-bound  ‖f ∗ f‖∞  by a quadratic form in the bin heights</a:t>
            </a:r>
          </a:p>
          <a:p>
            <a:pPr algn="l">
              <a:lnSpc>
                <a:spcPct val="120000"/>
              </a:lnSpc>
            </a:pPr>
            <a:r>
              <a:rPr sz="600" b="0" i="0">
                <a:solidFill>
                  <a:srgbClr val="1C1917"/>
                </a:solidFill>
                <a:latin typeface="Calibri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C1917"/>
                </a:solidFill>
                <a:latin typeface="Georgia"/>
              </a:rPr>
              <a:t>3.  Prune</a:t>
            </a:r>
          </a:p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1C1917"/>
                </a:solidFill>
                <a:latin typeface="Calibri"/>
              </a:rPr>
              <a:t>rule out any height vector whose test value exceeds the target threshold</a:t>
            </a:r>
          </a:p>
          <a:p>
            <a:pPr algn="l">
              <a:lnSpc>
                <a:spcPct val="120000"/>
              </a:lnSpc>
            </a:pPr>
            <a:r>
              <a:rPr sz="600" b="0" i="0">
                <a:solidFill>
                  <a:srgbClr val="1C1917"/>
                </a:solidFill>
                <a:latin typeface="Calibri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C1917"/>
                </a:solidFill>
                <a:latin typeface="Georgia"/>
              </a:rPr>
              <a:t>4.  Exhaust</a:t>
            </a:r>
          </a:p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1C1917"/>
                </a:solidFill>
                <a:latin typeface="Calibri"/>
              </a:rPr>
              <a:t>if all grid points are pruned, the bound is proved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0" y="1737360"/>
            <a:ext cx="3840480" cy="4023360"/>
          </a:xfrm>
          <a:prstGeom prst="rect">
            <a:avLst/>
          </a:prstGeom>
          <a:solidFill>
            <a:srgbClr val="EEE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7772400" y="1737360"/>
            <a:ext cx="3840480" cy="0"/>
          </a:xfrm>
          <a:prstGeom prst="line">
            <a:avLst/>
          </a:prstGeom>
          <a:ln w="16510">
            <a:solidFill>
              <a:srgbClr val="1C19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955279" y="1874519"/>
            <a:ext cx="356616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7C756B"/>
                </a:solidFill>
                <a:latin typeface="Calibri"/>
              </a:rPr>
              <a:t>PUBLISHED RESULT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2286000"/>
            <a:ext cx="35661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 i="0">
                <a:solidFill>
                  <a:srgbClr val="1C1917"/>
                </a:solidFill>
                <a:latin typeface="Georgia"/>
              </a:rPr>
              <a:t>C₁ₐ  ≥  1.2802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955279" y="3291840"/>
            <a:ext cx="2011680" cy="0"/>
          </a:xfrm>
          <a:prstGeom prst="line">
            <a:avLst/>
          </a:prstGeom>
          <a:ln w="9525">
            <a:solidFill>
              <a:srgbClr val="D6CD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955279" y="3429000"/>
            <a:ext cx="356616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1917"/>
                </a:solidFill>
                <a:latin typeface="Georgia"/>
              </a:rPr>
              <a:t>at  (n, m) = (24, 50),  d = 48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79" y="3840480"/>
            <a:ext cx="356616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1917"/>
                </a:solidFill>
                <a:latin typeface="Georgia"/>
              </a:rPr>
              <a:t>≈ 20,000 CPU-hours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955279" y="4526280"/>
            <a:ext cx="3383280" cy="0"/>
          </a:xfrm>
          <a:prstGeom prst="line">
            <a:avLst/>
          </a:prstGeom>
          <a:ln w="9525">
            <a:solidFill>
              <a:srgbClr val="D6CD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955279" y="4663440"/>
            <a:ext cx="3566160" cy="10972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7C756B"/>
                </a:solidFill>
                <a:latin typeface="Calibri"/>
              </a:rPr>
              <a:t>Correction term  2/m + 1/m²  controls the step-function approximation error.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C756B"/>
                </a:solidFill>
                <a:latin typeface="Calibri"/>
              </a:rPr>
              <a:t>Piterbarg  ·  Bajaj  ·  Vincent        STAT 4830  —  Spring 2026</a:t>
            </a:r>
          </a:p>
        </p:txBody>
      </p:sp>
      <p:sp>
        <p:nvSpPr>
          <p:cNvPr id="18" name="Oval 17"/>
          <p:cNvSpPr/>
          <p:nvPr/>
        </p:nvSpPr>
        <p:spPr>
          <a:xfrm>
            <a:off x="11599164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434572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269980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105388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940796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776204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611612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447020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282428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117836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953244" y="6560820"/>
            <a:ext cx="82296" cy="82296"/>
          </a:xfrm>
          <a:prstGeom prst="ellipse">
            <a:avLst/>
          </a:prstGeom>
          <a:solidFill>
            <a:srgbClr val="1C19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788652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624060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6424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7C756B"/>
                </a:solidFill>
                <a:latin typeface="Calibri"/>
              </a:rPr>
              <a:t>§3 · OUR CONTRIBUTION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1C1917"/>
                </a:solidFill>
                <a:latin typeface="Georgia"/>
              </a:rPr>
              <a:t>Three independent attacks on one problem — plus an audit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35024"/>
            <a:ext cx="11064240" cy="0"/>
          </a:xfrm>
          <a:prstGeom prst="line">
            <a:avLst/>
          </a:prstGeom>
          <a:ln w="9525">
            <a:solidFill>
              <a:srgbClr val="D6CD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fig_three_trac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91640"/>
            <a:ext cx="11064240" cy="3594711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548640" y="5257800"/>
            <a:ext cx="11064240" cy="0"/>
          </a:xfrm>
          <a:prstGeom prst="line">
            <a:avLst/>
          </a:prstGeom>
          <a:ln w="9525">
            <a:solidFill>
              <a:srgbClr val="D6CD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544068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1C1917"/>
                </a:solidFill>
                <a:latin typeface="Calibri"/>
              </a:rPr>
              <a:t>Independently we implemented a branch-and-prune cascade on GPU  (</a:t>
            </a:r>
            <a:r>
              <a:rPr sz="1400" b="1" i="0">
                <a:solidFill>
                  <a:srgbClr val="25435F"/>
                </a:solidFill>
                <a:latin typeface="Calibri"/>
              </a:rPr>
              <a:t>→ 1.4</a:t>
            </a:r>
            <a:r>
              <a:rPr sz="1400" b="0" i="0">
                <a:solidFill>
                  <a:srgbClr val="1C1917"/>
                </a:solidFill>
                <a:latin typeface="Calibri"/>
              </a:rPr>
              <a:t>),  built a Lasserre SDP certificate  (</a:t>
            </a:r>
            <a:r>
              <a:rPr sz="1400" b="1" i="0">
                <a:solidFill>
                  <a:srgbClr val="3A5445"/>
                </a:solidFill>
                <a:latin typeface="Calibri"/>
              </a:rPr>
              <a:t>→ 1.3, certified</a:t>
            </a:r>
            <a:r>
              <a:rPr sz="1400" b="0" i="0">
                <a:solidFill>
                  <a:srgbClr val="1C1917"/>
                </a:solidFill>
                <a:latin typeface="Calibri"/>
              </a:rPr>
              <a:t>),</a:t>
            </a:r>
          </a:p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1C1917"/>
                </a:solidFill>
                <a:latin typeface="Calibri"/>
              </a:rPr>
              <a:t>and,  while reproducing the C&amp;S baseline,  audited the MATLAB code the authors shared  (</a:t>
            </a:r>
            <a:r>
              <a:rPr sz="1400" b="1" i="0">
                <a:solidFill>
                  <a:srgbClr val="8E3A38"/>
                </a:solidFill>
                <a:latin typeface="Calibri"/>
              </a:rPr>
              <a:t>→ this slide deck carries all three</a:t>
            </a:r>
            <a:r>
              <a:rPr sz="1400" b="0" i="0">
                <a:solidFill>
                  <a:srgbClr val="1C1917"/>
                </a:solidFill>
                <a:latin typeface="Calibri"/>
              </a:rPr>
              <a:t>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C756B"/>
                </a:solidFill>
                <a:latin typeface="Calibri"/>
              </a:rPr>
              <a:t>Piterbarg  ·  Bajaj  ·  Vincent        STAT 4830  —  Spring 2026</a:t>
            </a:r>
          </a:p>
        </p:txBody>
      </p:sp>
      <p:sp>
        <p:nvSpPr>
          <p:cNvPr id="10" name="Oval 9"/>
          <p:cNvSpPr/>
          <p:nvPr/>
        </p:nvSpPr>
        <p:spPr>
          <a:xfrm>
            <a:off x="11599164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434572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269980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105388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940796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776204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611612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447020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82428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17836" y="6560820"/>
            <a:ext cx="82296" cy="82296"/>
          </a:xfrm>
          <a:prstGeom prst="ellipse">
            <a:avLst/>
          </a:prstGeom>
          <a:solidFill>
            <a:srgbClr val="1C19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953244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788652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24060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4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6424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5435F"/>
                </a:solidFill>
                <a:latin typeface="Calibri"/>
              </a:rPr>
              <a:t>TRACK I · CASCADE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1C1917"/>
                </a:solidFill>
                <a:latin typeface="Georgia"/>
              </a:rPr>
              <a:t>Recursive refinement with novel pruning, fused GPU kernels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35024"/>
            <a:ext cx="11064240" cy="0"/>
          </a:xfrm>
          <a:prstGeom prst="line">
            <a:avLst/>
          </a:prstGeom>
          <a:ln w="9525">
            <a:solidFill>
              <a:srgbClr val="D6CD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45920"/>
            <a:ext cx="612648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25435F"/>
                </a:solidFill>
                <a:latin typeface="Georgia"/>
              </a:rPr>
              <a:t>Novel pruning bounds</a:t>
            </a:r>
          </a:p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1C1917"/>
                </a:solidFill>
                <a:latin typeface="Calibri"/>
              </a:rPr>
              <a:t>·  contiguous-block sums catch interior concentrations</a:t>
            </a:r>
          </a:p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1C1917"/>
                </a:solidFill>
                <a:latin typeface="Calibri"/>
              </a:rPr>
              <a:t>·  two-max enhanced bound — cross-term dominance</a:t>
            </a:r>
          </a:p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1C1917"/>
                </a:solidFill>
                <a:latin typeface="Calibri"/>
              </a:rPr>
              <a:t>·  edge-pair cross-terms  </a:t>
            </a:r>
            <a:r>
              <a:rPr sz="1400" b="0" i="1">
                <a:solidFill>
                  <a:srgbClr val="1C1917"/>
                </a:solidFill>
                <a:latin typeface="Georgia"/>
              </a:rPr>
              <a:t>c₀ · c_{d−1}</a:t>
            </a:r>
          </a:p>
          <a:p>
            <a:pPr algn="l">
              <a:lnSpc>
                <a:spcPct val="120000"/>
              </a:lnSpc>
            </a:pPr>
            <a:r>
              <a:rPr sz="1200" b="0" i="1">
                <a:solidFill>
                  <a:srgbClr val="7C756B"/>
                </a:solidFill>
                <a:latin typeface="Calibri"/>
              </a:rPr>
              <a:t>each bound proved, then compiled into the pruner</a:t>
            </a:r>
          </a:p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1C1917"/>
                </a:solidFill>
                <a:latin typeface="Calibri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25435F"/>
                </a:solidFill>
                <a:latin typeface="Georgia"/>
              </a:rPr>
              <a:t>Fused CUDA kernel</a:t>
            </a:r>
          </a:p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1C1917"/>
                </a:solidFill>
                <a:latin typeface="Calibri"/>
              </a:rPr>
              <a:t>·  everything on-GPU;  no global-memory round trips</a:t>
            </a:r>
          </a:p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1C1917"/>
                </a:solidFill>
                <a:latin typeface="Calibri"/>
              </a:rPr>
              <a:t>·  early exit on partial convolution sums  (most compositions die cheap)</a:t>
            </a:r>
          </a:p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1C1917"/>
                </a:solidFill>
                <a:latin typeface="Calibri"/>
              </a:rPr>
              <a:t>·  two-stage freeze kernel at deep levels — perturbation bound</a:t>
            </a:r>
          </a:p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1C1917"/>
                </a:solidFill>
                <a:latin typeface="Calibri"/>
              </a:rPr>
              <a:t>   clears 90 %+ of frozen cases, avoiding warp divergence</a:t>
            </a:r>
          </a:p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C1917"/>
                </a:solidFill>
                <a:latin typeface="Calibri"/>
              </a:rPr>
              <a:t>·  10 × – 100 ×  speedup over the naive enumerator</a:t>
            </a:r>
          </a:p>
        </p:txBody>
      </p:sp>
      <p:pic>
        <p:nvPicPr>
          <p:cNvPr id="8" name="Picture 7" descr="fig_cascade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783080"/>
            <a:ext cx="4846320" cy="221780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C756B"/>
                </a:solidFill>
                <a:latin typeface="Calibri"/>
              </a:rPr>
              <a:t>Piterbarg  ·  Bajaj  ·  Vincent        STAT 4830  —  Spring 2026</a:t>
            </a:r>
          </a:p>
        </p:txBody>
      </p:sp>
      <p:sp>
        <p:nvSpPr>
          <p:cNvPr id="10" name="Oval 9"/>
          <p:cNvSpPr/>
          <p:nvPr/>
        </p:nvSpPr>
        <p:spPr>
          <a:xfrm>
            <a:off x="11599164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434572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269980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105388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940796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776204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611612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447020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82428" y="6560820"/>
            <a:ext cx="82296" cy="82296"/>
          </a:xfrm>
          <a:prstGeom prst="ellipse">
            <a:avLst/>
          </a:prstGeom>
          <a:solidFill>
            <a:srgbClr val="254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17836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953244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788652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24060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4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6424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5435F"/>
                </a:solidFill>
                <a:latin typeface="Calibri"/>
              </a:rPr>
              <a:t>TRACK I · RESULT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1C1917"/>
                </a:solidFill>
                <a:latin typeface="Georgia"/>
              </a:rPr>
              <a:t>Cascade pushes the lower bound from 1.2802 to 1.4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35024"/>
            <a:ext cx="11064240" cy="0"/>
          </a:xfrm>
          <a:prstGeom prst="line">
            <a:avLst/>
          </a:prstGeom>
          <a:ln w="9525">
            <a:solidFill>
              <a:srgbClr val="D6CD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83080"/>
            <a:ext cx="548640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5435F"/>
                </a:solidFill>
                <a:latin typeface="Calibri"/>
              </a:rPr>
              <a:t>CASCADE   ·   GPU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2103120"/>
            <a:ext cx="1645920" cy="0"/>
          </a:xfrm>
          <a:prstGeom prst="line">
            <a:avLst/>
          </a:prstGeom>
          <a:ln w="17780">
            <a:solidFill>
              <a:srgbClr val="2543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2331720"/>
            <a:ext cx="5943600" cy="1554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00" b="0" i="0">
                <a:solidFill>
                  <a:srgbClr val="1C1917"/>
                </a:solidFill>
                <a:latin typeface="Georgia"/>
              </a:rPr>
              <a:t>C₁ₐ ≥ 1.4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160520"/>
            <a:ext cx="5486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7C756B"/>
                </a:solidFill>
                <a:latin typeface="Calibri"/>
              </a:rPr>
              <a:t>at  </a:t>
            </a:r>
            <a:r>
              <a:rPr sz="1800" b="0" i="1">
                <a:solidFill>
                  <a:srgbClr val="1C1917"/>
                </a:solidFill>
                <a:latin typeface="Georgia"/>
              </a:rPr>
              <a:t>(d, m) = (128, 20)</a:t>
            </a:r>
          </a:p>
          <a:p>
            <a:pPr algn="l">
              <a:lnSpc>
                <a:spcPct val="120000"/>
              </a:lnSpc>
            </a:pPr>
            <a:r>
              <a:rPr sz="1600" b="0" i="1">
                <a:solidFill>
                  <a:srgbClr val="7C756B"/>
                </a:solidFill>
                <a:latin typeface="Calibri"/>
              </a:rPr>
              <a:t>≈ 70 hours  on a 128-core machine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5349240"/>
            <a:ext cx="5486400" cy="0"/>
          </a:xfrm>
          <a:prstGeom prst="line">
            <a:avLst/>
          </a:prstGeom>
          <a:ln w="9525">
            <a:solidFill>
              <a:srgbClr val="D6CD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544068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C1917"/>
                </a:solidFill>
                <a:latin typeface="Calibri"/>
              </a:rPr>
              <a:t>First significant lower-bound improvement since 2017.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C1917"/>
                </a:solidFill>
                <a:latin typeface="Calibri"/>
              </a:rPr>
              <a:t>Gap to upper bound  narrowed by ≈ 50 %  (0.22 → 0.10).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583680" y="1783080"/>
            <a:ext cx="365760" cy="0"/>
          </a:xfrm>
          <a:prstGeom prst="line">
            <a:avLst/>
          </a:prstGeom>
          <a:ln w="17780">
            <a:solidFill>
              <a:srgbClr val="2543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0" y="1965960"/>
            <a:ext cx="502920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5435F"/>
                </a:solidFill>
                <a:latin typeface="Calibri"/>
              </a:rPr>
              <a:t>TRADE-OFFS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331720"/>
            <a:ext cx="5212080" cy="429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C1917"/>
                </a:solidFill>
                <a:latin typeface="Georgia"/>
              </a:rPr>
              <a:t>What the cascade buys you</a:t>
            </a:r>
          </a:p>
          <a:p>
            <a:pPr algn="l">
              <a:lnSpc>
                <a:spcPct val="120000"/>
              </a:lnSpc>
            </a:pPr>
            <a:r>
              <a:rPr sz="600" b="0" i="0">
                <a:solidFill>
                  <a:srgbClr val="1C1917"/>
                </a:solidFill>
                <a:latin typeface="Calibri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C1917"/>
                </a:solidFill>
                <a:latin typeface="Calibri"/>
              </a:rPr>
              <a:t>·  sharp in principle — exhaustive enumeration rules out every surviving point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C1917"/>
                </a:solidFill>
                <a:latin typeface="Calibri"/>
              </a:rPr>
              <a:t>·  scales to  </a:t>
            </a:r>
            <a:r>
              <a:rPr sz="1300" b="0" i="1">
                <a:solidFill>
                  <a:srgbClr val="1C1917"/>
                </a:solidFill>
                <a:latin typeface="Georgia"/>
              </a:rPr>
              <a:t>d = 128</a:t>
            </a:r>
            <a:r>
              <a:rPr sz="1300" b="0" i="0">
                <a:solidFill>
                  <a:srgbClr val="1C1917"/>
                </a:solidFill>
                <a:latin typeface="Calibri"/>
              </a:rPr>
              <a:t>  via symmetry reduction + GPU pruning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C1917"/>
                </a:solidFill>
                <a:latin typeface="Calibri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C1917"/>
                </a:solidFill>
                <a:latin typeface="Georgia"/>
              </a:rPr>
              <a:t>What it doesn't</a:t>
            </a:r>
          </a:p>
          <a:p>
            <a:pPr algn="l">
              <a:lnSpc>
                <a:spcPct val="120000"/>
              </a:lnSpc>
            </a:pPr>
            <a:r>
              <a:rPr sz="600" b="0" i="0">
                <a:solidFill>
                  <a:srgbClr val="1C1917"/>
                </a:solidFill>
                <a:latin typeface="Calibri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C1917"/>
                </a:solidFill>
                <a:latin typeface="Calibri"/>
              </a:rPr>
              <a:t>·  exponential in  </a:t>
            </a:r>
            <a:r>
              <a:rPr sz="1300" b="0" i="1">
                <a:solidFill>
                  <a:srgbClr val="1C1917"/>
                </a:solidFill>
                <a:latin typeface="Georgia"/>
              </a:rPr>
              <a:t>d</a:t>
            </a:r>
            <a:r>
              <a:rPr sz="1300" b="0" i="0">
                <a:solidFill>
                  <a:srgbClr val="1C1917"/>
                </a:solidFill>
                <a:latin typeface="Calibri"/>
              </a:rPr>
              <a:t>  in the worst case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C1917"/>
                </a:solidFill>
                <a:latin typeface="Calibri"/>
              </a:rPr>
              <a:t>·  correctness rides on many small inequalities — each needs a proof</a:t>
            </a:r>
          </a:p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7C756B"/>
                </a:solidFill>
                <a:latin typeface="Calibri"/>
              </a:rPr>
              <a:t>·  motivated us to build a second, independent certifier 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C756B"/>
                </a:solidFill>
                <a:latin typeface="Calibri"/>
              </a:rPr>
              <a:t>Piterbarg  ·  Bajaj  ·  Vincent        STAT 4830  —  Spring 2026</a:t>
            </a:r>
          </a:p>
        </p:txBody>
      </p:sp>
      <p:sp>
        <p:nvSpPr>
          <p:cNvPr id="17" name="Oval 16"/>
          <p:cNvSpPr/>
          <p:nvPr/>
        </p:nvSpPr>
        <p:spPr>
          <a:xfrm>
            <a:off x="11599164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434572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269980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105388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940796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776204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611612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447020" y="6560820"/>
            <a:ext cx="82296" cy="82296"/>
          </a:xfrm>
          <a:prstGeom prst="ellipse">
            <a:avLst/>
          </a:prstGeom>
          <a:solidFill>
            <a:srgbClr val="254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282428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117836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53244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788652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624060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A54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6424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A5445"/>
                </a:solidFill>
                <a:latin typeface="Calibri"/>
              </a:rPr>
              <a:t>TRACK II · LASSERRE SDP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1C1917"/>
                </a:solidFill>
                <a:latin typeface="Georgia"/>
              </a:rPr>
              <a:t>Continuous → polynomial → semidefinite   (no enumeration)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35024"/>
            <a:ext cx="11064240" cy="0"/>
          </a:xfrm>
          <a:prstGeom prst="line">
            <a:avLst/>
          </a:prstGeom>
          <a:ln w="9525">
            <a:solidFill>
              <a:srgbClr val="D6CD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4592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3A5445"/>
                </a:solidFill>
                <a:latin typeface="Georgia"/>
              </a:rPr>
              <a:t>1.  Reduce</a:t>
            </a:r>
            <a:r>
              <a:rPr sz="1600" b="0" i="0">
                <a:solidFill>
                  <a:srgbClr val="1C1917"/>
                </a:solidFill>
                <a:latin typeface="Calibri"/>
              </a:rPr>
              <a:t>   the infinite-dimensional problem on  </a:t>
            </a:r>
            <a:r>
              <a:rPr sz="1600" b="0" i="1">
                <a:solidFill>
                  <a:srgbClr val="1C1917"/>
                </a:solidFill>
                <a:latin typeface="Georgia"/>
              </a:rPr>
              <a:t>𝓕</a:t>
            </a:r>
            <a:r>
              <a:rPr sz="1600" b="0" i="0">
                <a:solidFill>
                  <a:srgbClr val="1C1917"/>
                </a:solidFill>
                <a:latin typeface="Calibri"/>
              </a:rPr>
              <a:t>  to a polynomial minimization on the simplex: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176272"/>
            <a:ext cx="11064240" cy="685800"/>
          </a:xfrm>
          <a:prstGeom prst="rect">
            <a:avLst/>
          </a:prstGeom>
          <a:solidFill>
            <a:srgbClr val="EEE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267712"/>
            <a:ext cx="1106424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1">
                <a:solidFill>
                  <a:srgbClr val="1C1917"/>
                </a:solidFill>
                <a:latin typeface="Georgia"/>
              </a:rPr>
              <a:t>val(d)  =  minᵤ ∈ Δ_d    max_W    μᵀ M_W μ     ≤     C₁ₐ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06324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3A5445"/>
                </a:solidFill>
                <a:latin typeface="Georgia"/>
              </a:rPr>
              <a:t>2.  Relax</a:t>
            </a:r>
            <a:r>
              <a:rPr sz="1600" b="0" i="0">
                <a:solidFill>
                  <a:srgbClr val="1C1917"/>
                </a:solidFill>
                <a:latin typeface="Calibri"/>
              </a:rPr>
              <a:t>   via the Lasserre hierarchy with localizing matrices: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593592"/>
            <a:ext cx="11064240" cy="685800"/>
          </a:xfrm>
          <a:prstGeom prst="rect">
            <a:avLst/>
          </a:prstGeom>
          <a:solidFill>
            <a:srgbClr val="EEE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685032"/>
            <a:ext cx="1106424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1">
                <a:solidFill>
                  <a:srgbClr val="1C1917"/>
                </a:solidFill>
                <a:latin typeface="Georgia"/>
              </a:rPr>
              <a:t>val⁽ᵏ⁾(d)    ≤    val⁽ᵏ⁺¹⁾(d)    ≤    val(d)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48056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3A5445"/>
                </a:solidFill>
                <a:latin typeface="Georgia"/>
              </a:rPr>
              <a:t>3.  Certify</a:t>
            </a:r>
            <a:r>
              <a:rPr sz="1600" b="0" i="0">
                <a:solidFill>
                  <a:srgbClr val="1C1917"/>
                </a:solidFill>
                <a:latin typeface="Calibri"/>
              </a:rPr>
              <a:t>   a dual-feasible point of the order-</a:t>
            </a:r>
            <a:r>
              <a:rPr sz="1600" b="0" i="1">
                <a:solidFill>
                  <a:srgbClr val="1C1917"/>
                </a:solidFill>
                <a:latin typeface="Georgia"/>
              </a:rPr>
              <a:t>k</a:t>
            </a:r>
            <a:r>
              <a:rPr sz="1600" b="0" i="0">
                <a:solidFill>
                  <a:srgbClr val="1C1917"/>
                </a:solidFill>
                <a:latin typeface="Calibri"/>
              </a:rPr>
              <a:t>  SDP whose objective exceeds the threshold.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48640" y="5349240"/>
            <a:ext cx="11064240" cy="0"/>
          </a:xfrm>
          <a:prstGeom prst="line">
            <a:avLst/>
          </a:prstGeom>
          <a:ln w="9525">
            <a:solidFill>
              <a:srgbClr val="D6CD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5440680"/>
            <a:ext cx="11064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3A5445"/>
                </a:solidFill>
                <a:latin typeface="Georgia"/>
              </a:rPr>
              <a:t>Scaling lever</a:t>
            </a:r>
            <a:r>
              <a:rPr sz="1400" b="0" i="0">
                <a:solidFill>
                  <a:srgbClr val="1C1917"/>
                </a:solidFill>
                <a:latin typeface="Calibri"/>
              </a:rPr>
              <a:t>   —   correlative sparsity  (Waki–Kim–Kojima–Muramatsu 2006).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7C756B"/>
                </a:solidFill>
                <a:latin typeface="Calibri"/>
              </a:rPr>
              <a:t>Chordal extension of the banded window graph yields  </a:t>
            </a:r>
            <a:r>
              <a:rPr sz="1300" b="0" i="1">
                <a:solidFill>
                  <a:srgbClr val="7C756B"/>
                </a:solidFill>
                <a:latin typeface="Georgia"/>
              </a:rPr>
              <a:t>O(d)</a:t>
            </a:r>
            <a:r>
              <a:rPr sz="1300" b="0" i="0">
                <a:solidFill>
                  <a:srgbClr val="7C756B"/>
                </a:solidFill>
                <a:latin typeface="Calibri"/>
              </a:rPr>
              <a:t>  overlapping cliques;  the dense  </a:t>
            </a:r>
            <a:r>
              <a:rPr sz="1300" b="0" i="1">
                <a:solidFill>
                  <a:srgbClr val="7C756B"/>
                </a:solidFill>
                <a:latin typeface="Georgia"/>
              </a:rPr>
              <a:t>binom(d+k, k)</a:t>
            </a:r>
            <a:r>
              <a:rPr sz="1300" b="0" i="0">
                <a:solidFill>
                  <a:srgbClr val="7C756B"/>
                </a:solidFill>
                <a:latin typeface="Calibri"/>
              </a:rPr>
              <a:t>  moment matrix is replaced by  </a:t>
            </a:r>
            <a:r>
              <a:rPr sz="1300" b="0" i="1">
                <a:solidFill>
                  <a:srgbClr val="7C756B"/>
                </a:solidFill>
                <a:latin typeface="Georgia"/>
              </a:rPr>
              <a:t>O(d)</a:t>
            </a:r>
            <a:r>
              <a:rPr sz="1300" b="0" i="0">
                <a:solidFill>
                  <a:srgbClr val="7C756B"/>
                </a:solidFill>
                <a:latin typeface="Calibri"/>
              </a:rPr>
              <a:t>  small blocks.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C756B"/>
                </a:solidFill>
                <a:latin typeface="Calibri"/>
              </a:rPr>
              <a:t>Piterbarg  ·  Bajaj  ·  Vincent        STAT 4830  —  Spring 2026</a:t>
            </a:r>
          </a:p>
        </p:txBody>
      </p:sp>
      <p:sp>
        <p:nvSpPr>
          <p:cNvPr id="17" name="Oval 16"/>
          <p:cNvSpPr/>
          <p:nvPr/>
        </p:nvSpPr>
        <p:spPr>
          <a:xfrm>
            <a:off x="11599164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434572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269980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105388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940796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776204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611612" y="6560820"/>
            <a:ext cx="82296" cy="82296"/>
          </a:xfrm>
          <a:prstGeom prst="ellipse">
            <a:avLst/>
          </a:prstGeom>
          <a:solidFill>
            <a:srgbClr val="3A54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447020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282428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117836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53244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788652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624060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A54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6424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A5445"/>
                </a:solidFill>
                <a:latin typeface="Calibri"/>
              </a:rPr>
              <a:t>TRACK II · RESULT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1C1917"/>
                </a:solidFill>
                <a:latin typeface="Georgia"/>
              </a:rPr>
              <a:t>A certified lower bound with full rigor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35024"/>
            <a:ext cx="11064240" cy="0"/>
          </a:xfrm>
          <a:prstGeom prst="line">
            <a:avLst/>
          </a:prstGeom>
          <a:ln w="9525">
            <a:solidFill>
              <a:srgbClr val="D6CD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fig_lasserre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91640"/>
            <a:ext cx="6858000" cy="23991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06640" y="1783080"/>
            <a:ext cx="429768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A5445"/>
                </a:solidFill>
                <a:latin typeface="Calibri"/>
              </a:rPr>
              <a:t>CERTIFIED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06640" y="2103120"/>
            <a:ext cx="1463040" cy="0"/>
          </a:xfrm>
          <a:prstGeom prst="line">
            <a:avLst/>
          </a:prstGeom>
          <a:ln w="17780">
            <a:solidFill>
              <a:srgbClr val="3A54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06640" y="2286000"/>
            <a:ext cx="4572000" cy="1463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0" i="0">
                <a:solidFill>
                  <a:srgbClr val="1C1917"/>
                </a:solidFill>
                <a:latin typeface="Georgia"/>
              </a:rPr>
              <a:t>C₁ₐ ≥ 1.3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3657600"/>
            <a:ext cx="45720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7C756B"/>
                </a:solidFill>
                <a:latin typeface="Calibri"/>
              </a:rPr>
              <a:t>at  </a:t>
            </a:r>
            <a:r>
              <a:rPr sz="1600" b="0" i="1">
                <a:solidFill>
                  <a:srgbClr val="1C1917"/>
                </a:solidFill>
                <a:latin typeface="Georgia"/>
              </a:rPr>
              <a:t>(d, k) = (16, 3)</a:t>
            </a:r>
          </a:p>
          <a:p>
            <a:pPr algn="l">
              <a:lnSpc>
                <a:spcPct val="120000"/>
              </a:lnSpc>
            </a:pPr>
            <a:r>
              <a:rPr sz="1400" b="0" i="1">
                <a:solidFill>
                  <a:srgbClr val="7C756B"/>
                </a:solidFill>
                <a:latin typeface="Calibri"/>
              </a:rPr>
              <a:t>MOSEK  ·  &lt; 10 minutes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406640" y="4663440"/>
            <a:ext cx="4297680" cy="0"/>
          </a:xfrm>
          <a:prstGeom prst="line">
            <a:avLst/>
          </a:prstGeom>
          <a:ln w="9525">
            <a:solidFill>
              <a:srgbClr val="D6CD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406640" y="4754880"/>
            <a:ext cx="44805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3A5445"/>
                </a:solidFill>
                <a:latin typeface="Georgia"/>
              </a:rPr>
              <a:t>What we record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1C1917"/>
                </a:solidFill>
                <a:latin typeface="Calibri"/>
              </a:rPr>
              <a:t>·  a single dual-feasible point  (y, Z, Λ)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1C1917"/>
                </a:solidFill>
                <a:latin typeface="Calibri"/>
              </a:rPr>
              <a:t>·  post-processed via Jansson–Chaykin–Keil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1C1917"/>
                </a:solidFill>
                <a:latin typeface="Calibri"/>
              </a:rPr>
              <a:t>   interval-arithmetic shift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1C1917"/>
                </a:solidFill>
                <a:latin typeface="Calibri"/>
              </a:rPr>
              <a:t>·  auxiliary runs at  </a:t>
            </a:r>
            <a:r>
              <a:rPr sz="1200" b="0" i="1">
                <a:solidFill>
                  <a:srgbClr val="1C1917"/>
                </a:solidFill>
                <a:latin typeface="Georgia"/>
              </a:rPr>
              <a:t>d ∈ {32, 64, 128}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1C1917"/>
                </a:solidFill>
                <a:latin typeface="Calibri"/>
              </a:rPr>
              <a:t>   under correlative sparsity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C756B"/>
                </a:solidFill>
                <a:latin typeface="Calibri"/>
              </a:rPr>
              <a:t>Piterbarg  ·  Bajaj  ·  Vincent        STAT 4830  —  Spring 2026</a:t>
            </a:r>
          </a:p>
        </p:txBody>
      </p:sp>
      <p:sp>
        <p:nvSpPr>
          <p:cNvPr id="15" name="Oval 14"/>
          <p:cNvSpPr/>
          <p:nvPr/>
        </p:nvSpPr>
        <p:spPr>
          <a:xfrm>
            <a:off x="11599164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434572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269980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105388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940796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776204" y="6560820"/>
            <a:ext cx="82296" cy="82296"/>
          </a:xfrm>
          <a:prstGeom prst="ellipse">
            <a:avLst/>
          </a:prstGeom>
          <a:solidFill>
            <a:srgbClr val="3A54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611612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447020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282428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117836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953244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788652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624060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E3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6424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E3A38"/>
                </a:solidFill>
                <a:latin typeface="Calibri"/>
              </a:rPr>
              <a:t>TRACK III · AUDITING THE C&amp;S MATLAB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1C1917"/>
                </a:solidFill>
                <a:latin typeface="Georgia"/>
              </a:rPr>
              <a:t>The code the authors shared — what it does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35024"/>
            <a:ext cx="11064240" cy="0"/>
          </a:xfrm>
          <a:prstGeom prst="line">
            <a:avLst/>
          </a:prstGeom>
          <a:ln w="9525">
            <a:solidFill>
              <a:srgbClr val="D6CD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45920"/>
            <a:ext cx="110642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0">
                <a:solidFill>
                  <a:srgbClr val="1C1917"/>
                </a:solidFill>
                <a:latin typeface="Calibri"/>
              </a:rPr>
              <a:t>When we set out to reproduce the  </a:t>
            </a:r>
            <a:r>
              <a:rPr sz="1700" b="0" i="1">
                <a:solidFill>
                  <a:srgbClr val="1C1917"/>
                </a:solidFill>
                <a:latin typeface="Georgia"/>
              </a:rPr>
              <a:t>C₁ₐ ≥ 1.2802</a:t>
            </a:r>
            <a:r>
              <a:rPr sz="1700" b="0" i="0">
                <a:solidFill>
                  <a:srgbClr val="1C1917"/>
                </a:solidFill>
                <a:latin typeface="Calibri"/>
              </a:rPr>
              <a:t>  baseline we ran the MATLAB file</a:t>
            </a:r>
          </a:p>
          <a:p>
            <a:pPr algn="l">
              <a:lnSpc>
                <a:spcPct val="120000"/>
              </a:lnSpc>
            </a:pPr>
            <a:r>
              <a:rPr sz="1700" b="0" i="0">
                <a:solidFill>
                  <a:srgbClr val="1C1917"/>
                </a:solidFill>
                <a:latin typeface="Calibri"/>
              </a:rPr>
              <a:t>Cloninger and Steinerberger shared  (</a:t>
            </a:r>
            <a:r>
              <a:rPr sz="1500" b="0" i="0">
                <a:solidFill>
                  <a:srgbClr val="1C1917"/>
                </a:solidFill>
                <a:latin typeface="Consolas"/>
              </a:rPr>
              <a:t>original_baseline_matlab.m</a:t>
            </a:r>
            <a:r>
              <a:rPr sz="1700" b="0" i="0">
                <a:solidFill>
                  <a:srgbClr val="1C1917"/>
                </a:solidFill>
                <a:latin typeface="Calibri"/>
              </a:rPr>
              <a:t>).  The published C&amp;S paper is </a:t>
            </a:r>
            <a:r>
              <a:rPr sz="1700" b="1" i="0">
                <a:solidFill>
                  <a:srgbClr val="1C1917"/>
                </a:solidFill>
                <a:latin typeface="Calibri"/>
              </a:rPr>
              <a:t>correct</a:t>
            </a:r>
            <a:r>
              <a:rPr sz="1700" b="0" i="0">
                <a:solidFill>
                  <a:srgbClr val="1C1917"/>
                </a:solidFill>
                <a:latin typeface="Calibri"/>
              </a:rPr>
              <a:t> —</a:t>
            </a:r>
          </a:p>
          <a:p>
            <a:pPr algn="l">
              <a:lnSpc>
                <a:spcPct val="120000"/>
              </a:lnSpc>
            </a:pPr>
            <a:r>
              <a:rPr sz="1700" b="0" i="0">
                <a:solidFill>
                  <a:srgbClr val="1C1917"/>
                </a:solidFill>
                <a:latin typeface="Calibri"/>
              </a:rPr>
              <a:t>it uses the fine height grid  </a:t>
            </a:r>
            <a:r>
              <a:rPr sz="1700" b="0" i="1">
                <a:solidFill>
                  <a:srgbClr val="1C1917"/>
                </a:solidFill>
                <a:latin typeface="Georgia"/>
              </a:rPr>
              <a:t>B</a:t>
            </a:r>
            <a:r>
              <a:rPr sz="1200" b="0" i="1">
                <a:solidFill>
                  <a:srgbClr val="1C1917"/>
                </a:solidFill>
                <a:latin typeface="Georgia"/>
              </a:rPr>
              <a:t>n,m</a:t>
            </a:r>
            <a:r>
              <a:rPr sz="1700" b="0" i="0">
                <a:solidFill>
                  <a:srgbClr val="1C1917"/>
                </a:solidFill>
                <a:latin typeface="Calibri"/>
              </a:rPr>
              <a:t>  with  </a:t>
            </a:r>
            <a:r>
              <a:rPr sz="1700" b="0" i="1">
                <a:solidFill>
                  <a:srgbClr val="1C1917"/>
                </a:solidFill>
                <a:latin typeface="Georgia"/>
              </a:rPr>
              <a:t>m = 50</a:t>
            </a:r>
            <a:r>
              <a:rPr sz="1700" b="0" i="0">
                <a:solidFill>
                  <a:srgbClr val="1C1917"/>
                </a:solidFill>
                <a:latin typeface="Calibri"/>
              </a:rPr>
              <a:t>.</a:t>
            </a:r>
          </a:p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1C1917"/>
                </a:solidFill>
                <a:latin typeface="Calibri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700" b="0" i="0">
                <a:solidFill>
                  <a:srgbClr val="1C1917"/>
                </a:solidFill>
                <a:latin typeface="Calibri"/>
              </a:rPr>
              <a:t>The MATLAB file,  though,  parameterizes the search differently: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114800"/>
            <a:ext cx="10515600" cy="1737360"/>
          </a:xfrm>
          <a:prstGeom prst="rect">
            <a:avLst/>
          </a:prstGeom>
          <a:solidFill>
            <a:srgbClr val="EEE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822960" y="4114800"/>
            <a:ext cx="10515600" cy="0"/>
          </a:xfrm>
          <a:prstGeom prst="line">
            <a:avLst/>
          </a:prstGeom>
          <a:ln w="16510">
            <a:solidFill>
              <a:srgbClr val="8E3A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97280" y="4251960"/>
            <a:ext cx="101498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C1917"/>
                </a:solidFill>
                <a:latin typeface="Georgia"/>
              </a:rPr>
              <a:t>In the paper</a:t>
            </a:r>
            <a:r>
              <a:rPr sz="1500" b="0" i="0">
                <a:solidFill>
                  <a:srgbClr val="1C1917"/>
                </a:solidFill>
                <a:latin typeface="Calibri"/>
              </a:rPr>
              <a:t>:    step-function  </a:t>
            </a:r>
            <a:r>
              <a:rPr sz="1500" b="0" i="1">
                <a:solidFill>
                  <a:srgbClr val="1C1917"/>
                </a:solidFill>
                <a:latin typeface="Georgia"/>
              </a:rPr>
              <a:t>heights</a:t>
            </a:r>
            <a:r>
              <a:rPr sz="1500" b="0" i="0">
                <a:solidFill>
                  <a:srgbClr val="1C1917"/>
                </a:solidFill>
                <a:latin typeface="Calibri"/>
              </a:rPr>
              <a:t>   quantized in steps of   </a:t>
            </a:r>
            <a:r>
              <a:rPr sz="1500" b="1" i="0">
                <a:solidFill>
                  <a:srgbClr val="1C1917"/>
                </a:solidFill>
                <a:latin typeface="Georgia"/>
              </a:rPr>
              <a:t>1/m = 0.02</a:t>
            </a:r>
          </a:p>
          <a:p>
            <a:pPr algn="l">
              <a:lnSpc>
                <a:spcPct val="120000"/>
              </a:lnSpc>
            </a:pPr>
            <a:r>
              <a:rPr sz="500" b="0" i="0">
                <a:solidFill>
                  <a:srgbClr val="1C1917"/>
                </a:solidFill>
                <a:latin typeface="Calibri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8E3A38"/>
                </a:solidFill>
                <a:latin typeface="Georgia"/>
              </a:rPr>
              <a:t>In the code</a:t>
            </a:r>
            <a:r>
              <a:rPr sz="1500" b="0" i="0">
                <a:solidFill>
                  <a:srgbClr val="1C1917"/>
                </a:solidFill>
                <a:latin typeface="Calibri"/>
              </a:rPr>
              <a:t>:     bin  </a:t>
            </a:r>
            <a:r>
              <a:rPr sz="1500" b="0" i="1">
                <a:solidFill>
                  <a:srgbClr val="1C1917"/>
                </a:solidFill>
                <a:latin typeface="Georgia"/>
              </a:rPr>
              <a:t>masses</a:t>
            </a:r>
            <a:r>
              <a:rPr sz="1500" b="0" i="0">
                <a:solidFill>
                  <a:srgbClr val="1C1917"/>
                </a:solidFill>
                <a:latin typeface="Calibri"/>
              </a:rPr>
              <a:t>     quantized in steps of   </a:t>
            </a:r>
            <a:r>
              <a:rPr sz="1500" b="1" i="0">
                <a:solidFill>
                  <a:srgbClr val="1C1917"/>
                </a:solidFill>
                <a:latin typeface="Georgia"/>
              </a:rPr>
              <a:t>0.02</a:t>
            </a:r>
            <a:r>
              <a:rPr sz="1500" b="0" i="0">
                <a:solidFill>
                  <a:srgbClr val="1C1917"/>
                </a:solidFill>
                <a:latin typeface="Calibri"/>
              </a:rPr>
              <a:t>    →   heights quantized in steps of   </a:t>
            </a:r>
            <a:r>
              <a:rPr sz="1500" b="1" i="0">
                <a:solidFill>
                  <a:srgbClr val="8E3A38"/>
                </a:solidFill>
                <a:latin typeface="Georgia"/>
              </a:rPr>
              <a:t>2d × 0.02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1">
                <a:solidFill>
                  <a:srgbClr val="7C756B"/>
                </a:solidFill>
                <a:latin typeface="Georgia"/>
              </a:rPr>
              <a:t>Different parameterization.  Different height step.  Same correction formula.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C756B"/>
                </a:solidFill>
                <a:latin typeface="Calibri"/>
              </a:rPr>
              <a:t>Piterbarg  ·  Bajaj  ·  Vincent        STAT 4830  —  Spring 2026</a:t>
            </a:r>
          </a:p>
        </p:txBody>
      </p:sp>
      <p:sp>
        <p:nvSpPr>
          <p:cNvPr id="13" name="Oval 12"/>
          <p:cNvSpPr/>
          <p:nvPr/>
        </p:nvSpPr>
        <p:spPr>
          <a:xfrm>
            <a:off x="11599164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434572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69980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105388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940796" y="6560820"/>
            <a:ext cx="82296" cy="82296"/>
          </a:xfrm>
          <a:prstGeom prst="ellipse">
            <a:avLst/>
          </a:prstGeom>
          <a:solidFill>
            <a:srgbClr val="8E3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776204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611612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447020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282428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117836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53244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788652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624060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E3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6424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E3A38"/>
                </a:solidFill>
                <a:latin typeface="Calibri"/>
              </a:rPr>
              <a:t>TRACK III · THE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1C1917"/>
                </a:solidFill>
                <a:latin typeface="Georgia"/>
              </a:rPr>
              <a:t>Lemma 3 needs the height step;  the code plugs in the mass step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35024"/>
            <a:ext cx="11064240" cy="0"/>
          </a:xfrm>
          <a:prstGeom prst="line">
            <a:avLst/>
          </a:prstGeom>
          <a:ln w="9525">
            <a:solidFill>
              <a:srgbClr val="D6CD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45920"/>
            <a:ext cx="585216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C1917"/>
                </a:solidFill>
                <a:latin typeface="Georgia"/>
              </a:rPr>
              <a:t>C&amp;S Lemma 3  gives</a:t>
            </a:r>
          </a:p>
          <a:p>
            <a:pPr algn="l">
              <a:lnSpc>
                <a:spcPct val="120000"/>
              </a:lnSpc>
            </a:pPr>
            <a:r>
              <a:rPr sz="1700" b="0" i="1">
                <a:solidFill>
                  <a:srgbClr val="1C1917"/>
                </a:solidFill>
                <a:latin typeface="Georgia"/>
              </a:rPr>
              <a:t>(g ∗ g)(x)   ≤   (a ∗ a)(x)  +  2ε  +  ε²</a:t>
            </a:r>
          </a:p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1C1917"/>
                </a:solidFill>
                <a:latin typeface="Calibri"/>
              </a:rPr>
              <a:t>where  </a:t>
            </a:r>
            <a:r>
              <a:rPr sz="1400" b="0" i="1">
                <a:solidFill>
                  <a:srgbClr val="1C1917"/>
                </a:solidFill>
                <a:latin typeface="Georgia"/>
              </a:rPr>
              <a:t>ε</a:t>
            </a:r>
            <a:r>
              <a:rPr sz="1400" b="0" i="0">
                <a:solidFill>
                  <a:srgbClr val="1C1917"/>
                </a:solidFill>
                <a:latin typeface="Calibri"/>
              </a:rPr>
              <a:t>  is a bound on  </a:t>
            </a:r>
            <a:r>
              <a:rPr sz="1400" b="0" i="1">
                <a:solidFill>
                  <a:srgbClr val="1C1917"/>
                </a:solidFill>
                <a:latin typeface="Georgia"/>
              </a:rPr>
              <a:t>‖g − a‖∞</a:t>
            </a:r>
            <a:r>
              <a:rPr sz="1400" b="0" i="0">
                <a:solidFill>
                  <a:srgbClr val="1C1917"/>
                </a:solidFill>
                <a:latin typeface="Calibri"/>
              </a:rPr>
              <a:t>   (a  </a:t>
            </a:r>
            <a:r>
              <a:rPr sz="1400" b="0" i="1">
                <a:solidFill>
                  <a:srgbClr val="1C1917"/>
                </a:solidFill>
                <a:latin typeface="Georgia"/>
              </a:rPr>
              <a:t>height</a:t>
            </a:r>
            <a:r>
              <a:rPr sz="1400" b="0" i="0">
                <a:solidFill>
                  <a:srgbClr val="1C1917"/>
                </a:solidFill>
                <a:latin typeface="Calibri"/>
              </a:rPr>
              <a:t>   difference).</a:t>
            </a:r>
          </a:p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1C1917"/>
                </a:solidFill>
                <a:latin typeface="Calibri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8E3A38"/>
                </a:solidFill>
                <a:latin typeface="Georgia"/>
              </a:rPr>
              <a:t>In the MATLAB code</a:t>
            </a:r>
          </a:p>
          <a:p>
            <a:pPr algn="l">
              <a:lnSpc>
                <a:spcPct val="120000"/>
              </a:lnSpc>
            </a:pPr>
            <a:r>
              <a:rPr sz="1400" b="0" i="1">
                <a:solidFill>
                  <a:srgbClr val="1C1917"/>
                </a:solidFill>
                <a:latin typeface="Georgia"/>
              </a:rPr>
              <a:t>ε = 0.02</a:t>
            </a:r>
            <a:r>
              <a:rPr sz="1400" b="0" i="0">
                <a:solidFill>
                  <a:srgbClr val="1C1917"/>
                </a:solidFill>
                <a:latin typeface="Calibri"/>
              </a:rPr>
              <a:t>  (mass step),  but heights  </a:t>
            </a:r>
            <a:r>
              <a:rPr sz="1400" b="0" i="1">
                <a:solidFill>
                  <a:srgbClr val="1C1917"/>
                </a:solidFill>
                <a:latin typeface="Georgia"/>
              </a:rPr>
              <a:t>hᵢ = 2d · massᵢ</a:t>
            </a:r>
            <a:r>
              <a:rPr sz="1400" b="0" i="0">
                <a:solidFill>
                  <a:srgbClr val="1C1917"/>
                </a:solidFill>
                <a:latin typeface="Calibri"/>
              </a:rPr>
              <a:t>,</a:t>
            </a:r>
          </a:p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1C1917"/>
                </a:solidFill>
                <a:latin typeface="Calibri"/>
              </a:rPr>
              <a:t>so the true  </a:t>
            </a:r>
            <a:r>
              <a:rPr sz="1400" b="0" i="1">
                <a:solidFill>
                  <a:srgbClr val="1C1917"/>
                </a:solidFill>
                <a:latin typeface="Georgia"/>
              </a:rPr>
              <a:t>‖g − a‖∞</a:t>
            </a:r>
            <a:r>
              <a:rPr sz="1400" b="0" i="0">
                <a:solidFill>
                  <a:srgbClr val="1C1917"/>
                </a:solidFill>
                <a:latin typeface="Calibri"/>
              </a:rPr>
              <a:t>  ≤  </a:t>
            </a:r>
            <a:r>
              <a:rPr sz="1400" b="0" i="1">
                <a:solidFill>
                  <a:srgbClr val="1C1917"/>
                </a:solidFill>
                <a:latin typeface="Georgia"/>
              </a:rPr>
              <a:t>2d × 0.02</a:t>
            </a:r>
            <a:r>
              <a:rPr sz="1400" b="0" i="0">
                <a:solidFill>
                  <a:srgbClr val="1C1917"/>
                </a:solidFill>
                <a:latin typeface="Calibri"/>
              </a:rPr>
              <a:t>,   not  </a:t>
            </a:r>
            <a:r>
              <a:rPr sz="1400" b="0" i="1">
                <a:solidFill>
                  <a:srgbClr val="1C1917"/>
                </a:solidFill>
                <a:latin typeface="Georgia"/>
              </a:rPr>
              <a:t>0.02</a:t>
            </a:r>
            <a:r>
              <a:rPr sz="1400" b="0" i="0">
                <a:solidFill>
                  <a:srgbClr val="1C1917"/>
                </a:solidFill>
                <a:latin typeface="Calibri"/>
              </a:rPr>
              <a:t>.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C1917"/>
                </a:solidFill>
                <a:latin typeface="Calibri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1C1917"/>
                </a:solidFill>
                <a:latin typeface="Calibri"/>
              </a:rPr>
              <a:t>The code's pruning budget is too small by a factor of  </a:t>
            </a:r>
          </a:p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8E3A38"/>
                </a:solidFill>
                <a:latin typeface="Georgia"/>
              </a:rPr>
              <a:t>≈ 2d.</a:t>
            </a:r>
          </a:p>
        </p:txBody>
      </p:sp>
      <p:pic>
        <p:nvPicPr>
          <p:cNvPr id="8" name="Picture 7" descr="fig_correction_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737360"/>
            <a:ext cx="5394960" cy="25311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C756B"/>
                </a:solidFill>
                <a:latin typeface="Calibri"/>
              </a:rPr>
              <a:t>Piterbarg  ·  Bajaj  ·  Vincent        STAT 4830  —  Spring 2026</a:t>
            </a:r>
          </a:p>
        </p:txBody>
      </p:sp>
      <p:sp>
        <p:nvSpPr>
          <p:cNvPr id="10" name="Oval 9"/>
          <p:cNvSpPr/>
          <p:nvPr/>
        </p:nvSpPr>
        <p:spPr>
          <a:xfrm>
            <a:off x="11599164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434572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269980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105388" y="6560820"/>
            <a:ext cx="82296" cy="82296"/>
          </a:xfrm>
          <a:prstGeom prst="ellipse">
            <a:avLst/>
          </a:prstGeom>
          <a:solidFill>
            <a:srgbClr val="8E3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940796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776204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611612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447020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82428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17836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953244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788652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24060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E3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6424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E3A38"/>
                </a:solidFill>
                <a:latin typeface="Calibri"/>
              </a:rPr>
              <a:t>TRACK III · THE CONSEQUENCE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1C1917"/>
                </a:solidFill>
                <a:latin typeface="Georgia"/>
              </a:rPr>
              <a:t>The code would "prove away" a known construction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35024"/>
            <a:ext cx="11064240" cy="0"/>
          </a:xfrm>
          <a:prstGeom prst="line">
            <a:avLst/>
          </a:prstGeom>
          <a:ln w="9525">
            <a:solidFill>
              <a:srgbClr val="D6CD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45920"/>
            <a:ext cx="576072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C1917"/>
                </a:solidFill>
                <a:latin typeface="Georgia"/>
              </a:rPr>
              <a:t>The check</a:t>
            </a:r>
          </a:p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1C1917"/>
                </a:solidFill>
                <a:latin typeface="Calibri"/>
              </a:rPr>
              <a:t>Matolcsi–Vinuesa  (2010)  exhibit a continuous  </a:t>
            </a:r>
            <a:r>
              <a:rPr sz="1400" b="0" i="1">
                <a:solidFill>
                  <a:srgbClr val="1C1917"/>
                </a:solidFill>
                <a:latin typeface="Georgia"/>
              </a:rPr>
              <a:t>f*</a:t>
            </a:r>
            <a:r>
              <a:rPr sz="1400" b="0" i="0">
                <a:solidFill>
                  <a:srgbClr val="1C1917"/>
                </a:solidFill>
                <a:latin typeface="Calibri"/>
              </a:rPr>
              <a:t>  with</a:t>
            </a:r>
          </a:p>
          <a:p>
            <a:pPr algn="l">
              <a:lnSpc>
                <a:spcPct val="120000"/>
              </a:lnSpc>
            </a:pPr>
            <a:r>
              <a:rPr sz="1500" b="0" i="1">
                <a:solidFill>
                  <a:srgbClr val="1C1917"/>
                </a:solidFill>
                <a:latin typeface="Georgia"/>
              </a:rPr>
              <a:t>‖f* ∗ f*‖∞  ≤  1.5029</a:t>
            </a:r>
            <a:r>
              <a:rPr sz="1400" b="0" i="0">
                <a:solidFill>
                  <a:srgbClr val="1C1917"/>
                </a:solidFill>
                <a:latin typeface="Calibri"/>
              </a:rPr>
              <a:t>.</a:t>
            </a:r>
          </a:p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1C1917"/>
                </a:solidFill>
                <a:latin typeface="Calibri"/>
              </a:rPr>
              <a:t>So  </a:t>
            </a:r>
            <a:r>
              <a:rPr sz="1400" b="0" i="1">
                <a:solidFill>
                  <a:srgbClr val="1C1917"/>
                </a:solidFill>
                <a:latin typeface="Georgia"/>
              </a:rPr>
              <a:t>C₁ₐ ≤ 1.5029</a:t>
            </a:r>
            <a:r>
              <a:rPr sz="1400" b="0" i="1">
                <a:solidFill>
                  <a:srgbClr val="1C1917"/>
                </a:solidFill>
                <a:latin typeface="Calibri"/>
              </a:rPr>
              <a:t>.</a:t>
            </a:r>
          </a:p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1C1917"/>
                </a:solidFill>
                <a:latin typeface="Calibri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1C1917"/>
                </a:solidFill>
                <a:latin typeface="Calibri"/>
              </a:rPr>
              <a:t>Point the MATLAB cascade at the threshold  </a:t>
            </a:r>
            <a:r>
              <a:rPr sz="1400" b="0" i="1">
                <a:solidFill>
                  <a:srgbClr val="1C1917"/>
                </a:solidFill>
                <a:latin typeface="Georgia"/>
              </a:rPr>
              <a:t>1.51</a:t>
            </a:r>
            <a:r>
              <a:rPr sz="1400" b="0" i="0">
                <a:solidFill>
                  <a:srgbClr val="1C1917"/>
                </a:solidFill>
                <a:latin typeface="Calibri"/>
              </a:rPr>
              <a:t>: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C1917"/>
                </a:solidFill>
                <a:latin typeface="Calibri"/>
              </a:rPr>
              <a:t>·  interior-window budget stays at  ≈ 0.04  across levels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C1917"/>
                </a:solidFill>
                <a:latin typeface="Calibri"/>
              </a:rPr>
              <a:t>·  the step-function approximation of  </a:t>
            </a:r>
            <a:r>
              <a:rPr sz="1300" b="0" i="1">
                <a:solidFill>
                  <a:srgbClr val="1C1917"/>
                </a:solidFill>
                <a:latin typeface="Georgia"/>
              </a:rPr>
              <a:t>f*</a:t>
            </a:r>
            <a:r>
              <a:rPr sz="1300" b="0" i="0">
                <a:solidFill>
                  <a:srgbClr val="1C1917"/>
                </a:solidFill>
                <a:latin typeface="Calibri"/>
              </a:rPr>
              <a:t>  has self-convolution peaks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C1917"/>
                </a:solidFill>
                <a:latin typeface="Calibri"/>
              </a:rPr>
              <a:t>   that exceed 1.55 on narrow windows at moderate  </a:t>
            </a:r>
            <a:r>
              <a:rPr sz="1300" b="0" i="1">
                <a:solidFill>
                  <a:srgbClr val="1C1917"/>
                </a:solidFill>
                <a:latin typeface="Georgia"/>
              </a:rPr>
              <a:t>d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C1917"/>
                </a:solidFill>
                <a:latin typeface="Calibri"/>
              </a:rPr>
              <a:t>·  the code therefore prunes every descendant of  </a:t>
            </a:r>
            <a:r>
              <a:rPr sz="1300" b="0" i="1">
                <a:solidFill>
                  <a:srgbClr val="1C1917"/>
                </a:solidFill>
                <a:latin typeface="Georgia"/>
              </a:rPr>
              <a:t>f*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C1917"/>
                </a:solidFill>
                <a:latin typeface="Calibri"/>
              </a:rPr>
              <a:t>·  exhausted survivors  →  claim:  </a:t>
            </a:r>
            <a:r>
              <a:rPr sz="1300" b="1" i="1">
                <a:solidFill>
                  <a:srgbClr val="1C1917"/>
                </a:solidFill>
                <a:latin typeface="Georgia"/>
              </a:rPr>
              <a:t>C₁ₐ ≥ 1.51</a:t>
            </a:r>
          </a:p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1C1917"/>
                </a:solidFill>
                <a:latin typeface="Calibri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8E3A38"/>
                </a:solidFill>
                <a:latin typeface="Georgia"/>
              </a:rPr>
              <a:t>But  </a:t>
            </a:r>
            <a:r>
              <a:rPr sz="1500" b="1" i="1">
                <a:solidFill>
                  <a:srgbClr val="8E3A38"/>
                </a:solidFill>
                <a:latin typeface="Georgia"/>
              </a:rPr>
              <a:t>1.51 &gt; 1.5029 ≥ C₁ₐ</a:t>
            </a:r>
            <a:r>
              <a:rPr sz="1500" b="1" i="0">
                <a:solidFill>
                  <a:srgbClr val="8E3A38"/>
                </a:solidFill>
                <a:latin typeface="Georgia"/>
              </a:rPr>
              <a:t>.    Contradiction.</a:t>
            </a:r>
          </a:p>
        </p:txBody>
      </p:sp>
      <p:pic>
        <p:nvPicPr>
          <p:cNvPr id="8" name="Picture 7" descr="fig_effective_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737360"/>
            <a:ext cx="5212080" cy="2267402"/>
          </a:xfrm>
          <a:prstGeom prst="rect">
            <a:avLst/>
          </a:prstGeom>
        </p:spPr>
      </p:pic>
      <p:cxnSp>
        <p:nvCxnSpPr>
          <p:cNvPr id="9" name="Connector 8"/>
          <p:cNvCxnSpPr/>
          <p:nvPr/>
        </p:nvCxnSpPr>
        <p:spPr>
          <a:xfrm>
            <a:off x="6675120" y="5303520"/>
            <a:ext cx="5212080" cy="0"/>
          </a:xfrm>
          <a:prstGeom prst="line">
            <a:avLst/>
          </a:prstGeom>
          <a:ln w="9525">
            <a:solidFill>
              <a:srgbClr val="D6CD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675120" y="5440680"/>
            <a:ext cx="5212080" cy="10058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C756B"/>
                </a:solidFill>
                <a:latin typeface="Calibri"/>
              </a:rPr>
              <a:t>The effective fine-grid  m  in C&amp;S units is  1 / (2dε)  — it drops below 1 by  d ≈ 25, at which point Lemma 3 says nothing at all.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C756B"/>
                </a:solidFill>
                <a:latin typeface="Calibri"/>
              </a:rPr>
              <a:t>Piterbarg  ·  Bajaj  ·  Vincent        STAT 4830  —  Spring 2026</a:t>
            </a:r>
          </a:p>
        </p:txBody>
      </p:sp>
      <p:sp>
        <p:nvSpPr>
          <p:cNvPr id="12" name="Oval 11"/>
          <p:cNvSpPr/>
          <p:nvPr/>
        </p:nvSpPr>
        <p:spPr>
          <a:xfrm>
            <a:off x="11599164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434572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269980" y="6560820"/>
            <a:ext cx="82296" cy="82296"/>
          </a:xfrm>
          <a:prstGeom prst="ellipse">
            <a:avLst/>
          </a:prstGeom>
          <a:solidFill>
            <a:srgbClr val="8E3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105388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940796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776204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11612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447020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282428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117836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953244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788652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624060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E3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6424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E3A38"/>
                </a:solidFill>
                <a:latin typeface="Calibri"/>
              </a:rPr>
              <a:t>TRACK III · WHAT WE ARE SAYING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1C1917"/>
                </a:solidFill>
                <a:latin typeface="Georgia"/>
              </a:rPr>
              <a:t>The paper stands;  the shared MATLAB file does not prove it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35024"/>
            <a:ext cx="11064240" cy="0"/>
          </a:xfrm>
          <a:prstGeom prst="line">
            <a:avLst/>
          </a:prstGeom>
          <a:ln w="9525">
            <a:solidFill>
              <a:srgbClr val="D6CD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91640"/>
            <a:ext cx="548640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C1917"/>
                </a:solidFill>
                <a:latin typeface="Calibri"/>
              </a:rPr>
              <a:t>THE PAPER IS FINE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2011680"/>
            <a:ext cx="1463040" cy="0"/>
          </a:xfrm>
          <a:prstGeom prst="line">
            <a:avLst/>
          </a:prstGeom>
          <a:ln w="16510">
            <a:solidFill>
              <a:srgbClr val="1C19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2194560"/>
            <a:ext cx="539496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1C1917"/>
                </a:solidFill>
                <a:latin typeface="Calibri"/>
              </a:rPr>
              <a:t>C&amp;S 2017 work on the fine height grid  </a:t>
            </a:r>
            <a:r>
              <a:rPr sz="1400" b="0" i="1">
                <a:solidFill>
                  <a:srgbClr val="1C1917"/>
                </a:solidFill>
                <a:latin typeface="Georgia"/>
              </a:rPr>
              <a:t>B</a:t>
            </a:r>
            <a:r>
              <a:rPr sz="1000" b="0" i="1">
                <a:solidFill>
                  <a:srgbClr val="1C1917"/>
                </a:solidFill>
                <a:latin typeface="Georgia"/>
              </a:rPr>
              <a:t>n,m</a:t>
            </a:r>
            <a:r>
              <a:rPr sz="1400" b="0" i="0">
                <a:solidFill>
                  <a:srgbClr val="1C1917"/>
                </a:solidFill>
                <a:latin typeface="Calibri"/>
              </a:rPr>
              <a:t>,</a:t>
            </a:r>
          </a:p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1C1917"/>
                </a:solidFill>
                <a:latin typeface="Calibri"/>
              </a:rPr>
              <a:t>where Lemma 3's  </a:t>
            </a:r>
            <a:r>
              <a:rPr sz="1400" b="0" i="1">
                <a:solidFill>
                  <a:srgbClr val="1C1917"/>
                </a:solidFill>
                <a:latin typeface="Georgia"/>
              </a:rPr>
              <a:t>2/m + 1/m²</a:t>
            </a:r>
            <a:r>
              <a:rPr sz="1400" b="0" i="0">
                <a:solidFill>
                  <a:srgbClr val="1C1917"/>
                </a:solidFill>
                <a:latin typeface="Calibri"/>
              </a:rPr>
              <a:t>   correction is legitimate.</a:t>
            </a:r>
          </a:p>
          <a:p>
            <a:pPr algn="l">
              <a:lnSpc>
                <a:spcPct val="120000"/>
              </a:lnSpc>
            </a:pPr>
            <a:r>
              <a:rPr sz="600" b="0" i="0">
                <a:solidFill>
                  <a:srgbClr val="1C1917"/>
                </a:solidFill>
                <a:latin typeface="Calibri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1C1917"/>
                </a:solidFill>
                <a:latin typeface="Calibri"/>
              </a:rPr>
              <a:t>The published bound  </a:t>
            </a:r>
            <a:r>
              <a:rPr sz="1500" b="1" i="0">
                <a:solidFill>
                  <a:srgbClr val="1C1917"/>
                </a:solidFill>
                <a:latin typeface="Georgia"/>
              </a:rPr>
              <a:t>1.2802</a:t>
            </a:r>
            <a:r>
              <a:rPr sz="1400" b="0" i="0">
                <a:solidFill>
                  <a:srgbClr val="1C1917"/>
                </a:solidFill>
                <a:latin typeface="Calibri"/>
              </a:rPr>
              <a:t>  is not in doubt.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C1917"/>
                </a:solidFill>
                <a:latin typeface="Calibri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1C1917"/>
                </a:solidFill>
                <a:latin typeface="Calibri"/>
              </a:rPr>
              <a:t>The MATLAB artifact is a different animal:</a:t>
            </a:r>
          </a:p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1C1917"/>
                </a:solidFill>
                <a:latin typeface="Calibri"/>
              </a:rPr>
              <a:t>it enumerates a coarser mass grid, but ports the paper's</a:t>
            </a:r>
          </a:p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1C1917"/>
                </a:solidFill>
                <a:latin typeface="Calibri"/>
              </a:rPr>
              <a:t>correction formula verbatim.  That combination</a:t>
            </a:r>
          </a:p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1C1917"/>
                </a:solidFill>
                <a:latin typeface="Calibri"/>
              </a:rPr>
              <a:t>cannot certify the paper's bound, and as shown would</a:t>
            </a:r>
          </a:p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1C1917"/>
                </a:solidFill>
                <a:latin typeface="Calibri"/>
              </a:rPr>
              <a:t>certify bounds that contradict the MV upper bound.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691640"/>
            <a:ext cx="548640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E3A38"/>
                </a:solidFill>
                <a:latin typeface="Calibri"/>
              </a:rPr>
              <a:t>TWO LIVE HYPOTHESES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355080" y="2011680"/>
            <a:ext cx="1463040" cy="0"/>
          </a:xfrm>
          <a:prstGeom prst="line">
            <a:avLst/>
          </a:prstGeom>
          <a:ln w="16510">
            <a:solidFill>
              <a:srgbClr val="8E3A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355080" y="2194560"/>
            <a:ext cx="539496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C1917"/>
                </a:solidFill>
                <a:latin typeface="Georgia"/>
              </a:rPr>
              <a:t>(a)  They sent us an early prototype.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C1917"/>
                </a:solidFill>
                <a:latin typeface="Calibri"/>
              </a:rPr>
              <a:t>The published bound was run on a separate fine-grid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C1917"/>
                </a:solidFill>
                <a:latin typeface="Calibri"/>
              </a:rPr>
              <a:t>enumerator;  the coarse-mass file is a speed-oriented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C1917"/>
                </a:solidFill>
                <a:latin typeface="Calibri"/>
              </a:rPr>
              <a:t>variant never meant to be the proof vehicle.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C1917"/>
                </a:solidFill>
                <a:latin typeface="Calibri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C1917"/>
                </a:solidFill>
                <a:latin typeface="Georgia"/>
              </a:rPr>
              <a:t>(b)  A derivation we're missing.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C1917"/>
                </a:solidFill>
                <a:latin typeface="Calibri"/>
              </a:rPr>
              <a:t>A mass-space bound that avoids the  </a:t>
            </a:r>
            <a:r>
              <a:rPr sz="1300" b="0" i="1">
                <a:solidFill>
                  <a:srgbClr val="1C1917"/>
                </a:solidFill>
                <a:latin typeface="Georgia"/>
              </a:rPr>
              <a:t>2d</a:t>
            </a:r>
            <a:r>
              <a:rPr sz="1300" b="0" i="0">
                <a:solidFill>
                  <a:srgbClr val="1C1917"/>
                </a:solidFill>
                <a:latin typeface="Calibri"/>
              </a:rPr>
              <a:t>  factor — 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C1917"/>
                </a:solidFill>
                <a:latin typeface="Calibri"/>
              </a:rPr>
              <a:t>unlikely, but worth asking about before we conclude.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C1917"/>
                </a:solidFill>
                <a:latin typeface="Calibri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7C756B"/>
                </a:solidFill>
                <a:latin typeface="Georgia"/>
              </a:rPr>
              <a:t>Either way,  this is a narrow claim about one file.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48640" y="6126480"/>
            <a:ext cx="11064240" cy="0"/>
          </a:xfrm>
          <a:prstGeom prst="line">
            <a:avLst/>
          </a:prstGeom>
          <a:ln w="9525">
            <a:solidFill>
              <a:srgbClr val="D6CD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6217920"/>
            <a:ext cx="1106424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7C756B"/>
                </a:solidFill>
                <a:latin typeface="Calibri"/>
              </a:rPr>
              <a:t>We fixed the analogous bug in our own Python port on 2026-04-07 — switched to the fine grid, which is what makes the cascade's 1.4 sound.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C756B"/>
                </a:solidFill>
                <a:latin typeface="Calibri"/>
              </a:rPr>
              <a:t>Piterbarg  ·  Bajaj  ·  Vincent        STAT 4830  —  Spring 2026</a:t>
            </a:r>
          </a:p>
        </p:txBody>
      </p:sp>
      <p:sp>
        <p:nvSpPr>
          <p:cNvPr id="16" name="Oval 15"/>
          <p:cNvSpPr/>
          <p:nvPr/>
        </p:nvSpPr>
        <p:spPr>
          <a:xfrm>
            <a:off x="11599164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434572" y="6560820"/>
            <a:ext cx="82296" cy="82296"/>
          </a:xfrm>
          <a:prstGeom prst="ellipse">
            <a:avLst/>
          </a:prstGeom>
          <a:solidFill>
            <a:srgbClr val="8E3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269980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105388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940796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776204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611612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447020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82428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117836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953244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788652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24060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6424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7C756B"/>
                </a:solidFill>
                <a:latin typeface="Calibri"/>
              </a:rPr>
              <a:t>§4 · 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1C1917"/>
                </a:solidFill>
                <a:latin typeface="Georgia"/>
              </a:rPr>
              <a:t>Where C₁ₐ stands after this project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35024"/>
            <a:ext cx="11064240" cy="0"/>
          </a:xfrm>
          <a:prstGeom prst="line">
            <a:avLst/>
          </a:prstGeom>
          <a:ln w="9525">
            <a:solidFill>
              <a:srgbClr val="D6CD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fig_bounds_number_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1554480"/>
            <a:ext cx="8686800" cy="2585357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548640" y="4023360"/>
            <a:ext cx="11064240" cy="0"/>
          </a:xfrm>
          <a:prstGeom prst="line">
            <a:avLst/>
          </a:prstGeom>
          <a:ln w="9525">
            <a:solidFill>
              <a:srgbClr val="D6CD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4160520"/>
            <a:ext cx="1106424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7C756B"/>
                </a:solidFill>
                <a:latin typeface="Calibri"/>
              </a:rPr>
              <a:t>THREE DELIVERABLES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526280"/>
            <a:ext cx="1106424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5435F"/>
                </a:solidFill>
                <a:latin typeface="Georgia"/>
              </a:rPr>
              <a:t>I.   </a:t>
            </a:r>
            <a:r>
              <a:rPr sz="1500" b="1" i="0">
                <a:solidFill>
                  <a:srgbClr val="1C1917"/>
                </a:solidFill>
                <a:latin typeface="Georgia"/>
              </a:rPr>
              <a:t>Cascade on GPU</a:t>
            </a:r>
            <a:r>
              <a:rPr sz="1400" b="0" i="0">
                <a:solidFill>
                  <a:srgbClr val="7C756B"/>
                </a:solidFill>
                <a:latin typeface="Calibri"/>
              </a:rPr>
              <a:t>   —   </a:t>
            </a:r>
            <a:r>
              <a:rPr sz="1500" b="1" i="1">
                <a:solidFill>
                  <a:srgbClr val="25435F"/>
                </a:solidFill>
                <a:latin typeface="Georgia"/>
              </a:rPr>
              <a:t>C₁ₐ ≥ 1.4</a:t>
            </a:r>
            <a:r>
              <a:rPr sz="1400" b="0" i="0">
                <a:solidFill>
                  <a:srgbClr val="1C1917"/>
                </a:solidFill>
                <a:latin typeface="Calibri"/>
              </a:rPr>
              <a:t>   via novel pruning bounds + fused CUDA kernels.</a:t>
            </a:r>
          </a:p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3A5445"/>
                </a:solidFill>
                <a:latin typeface="Georgia"/>
              </a:rPr>
              <a:t>II.  </a:t>
            </a:r>
            <a:r>
              <a:rPr sz="1500" b="1" i="0">
                <a:solidFill>
                  <a:srgbClr val="1C1917"/>
                </a:solidFill>
                <a:latin typeface="Georgia"/>
              </a:rPr>
              <a:t>Lasserre SDP certificate</a:t>
            </a:r>
            <a:r>
              <a:rPr sz="1400" b="0" i="0">
                <a:solidFill>
                  <a:srgbClr val="7C756B"/>
                </a:solidFill>
                <a:latin typeface="Calibri"/>
              </a:rPr>
              <a:t>   —   </a:t>
            </a:r>
            <a:r>
              <a:rPr sz="1500" b="1" i="1">
                <a:solidFill>
                  <a:srgbClr val="3A5445"/>
                </a:solidFill>
                <a:latin typeface="Georgia"/>
              </a:rPr>
              <a:t>C₁ₐ ≥ 1.3  (certified)</a:t>
            </a:r>
            <a:r>
              <a:rPr sz="1400" b="0" i="0">
                <a:solidFill>
                  <a:srgbClr val="1C1917"/>
                </a:solidFill>
                <a:latin typeface="Calibri"/>
              </a:rPr>
              <a:t>   at  </a:t>
            </a:r>
            <a:r>
              <a:rPr sz="1400" b="0" i="1">
                <a:solidFill>
                  <a:srgbClr val="1C1917"/>
                </a:solidFill>
                <a:latin typeface="Georgia"/>
              </a:rPr>
              <a:t>(d, k) = (16, 3)</a:t>
            </a:r>
            <a:r>
              <a:rPr sz="1400" b="0" i="0">
                <a:solidFill>
                  <a:srgbClr val="1C1917"/>
                </a:solidFill>
                <a:latin typeface="Calibri"/>
              </a:rPr>
              <a:t>   in under 10 minutes.</a:t>
            </a:r>
          </a:p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8E3A38"/>
                </a:solidFill>
                <a:latin typeface="Georgia"/>
              </a:rPr>
              <a:t>III. </a:t>
            </a:r>
            <a:r>
              <a:rPr sz="1500" b="1" i="0">
                <a:solidFill>
                  <a:srgbClr val="1C1917"/>
                </a:solidFill>
                <a:latin typeface="Georgia"/>
              </a:rPr>
              <a:t>MATLAB audit</a:t>
            </a:r>
            <a:r>
              <a:rPr sz="1400" b="0" i="0">
                <a:solidFill>
                  <a:srgbClr val="1C1917"/>
                </a:solidFill>
                <a:latin typeface="Calibri"/>
              </a:rPr>
              <a:t>   —   the shared C&amp;S artifact confuses the mass step for the height step; </a:t>
            </a:r>
            <a:r>
              <a:rPr sz="1400" b="0" i="1">
                <a:solidFill>
                  <a:srgbClr val="1C1917"/>
                </a:solidFill>
                <a:latin typeface="Calibri"/>
              </a:rPr>
              <a:t>the published paper is unaffected.</a:t>
            </a:r>
          </a:p>
          <a:p>
            <a:pPr algn="l">
              <a:lnSpc>
                <a:spcPct val="120000"/>
              </a:lnSpc>
            </a:pPr>
            <a:r>
              <a:rPr sz="600" b="0" i="0">
                <a:solidFill>
                  <a:srgbClr val="1C1917"/>
                </a:solidFill>
                <a:latin typeface="Calibri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7C756B"/>
                </a:solidFill>
                <a:latin typeface="Calibri"/>
              </a:rPr>
              <a:t>Next:   formal write-ups for both proofs in  </a:t>
            </a:r>
            <a:r>
              <a:rPr sz="1300" b="0" i="0">
                <a:solidFill>
                  <a:srgbClr val="7C756B"/>
                </a:solidFill>
                <a:latin typeface="Consolas"/>
              </a:rPr>
              <a:t>proof/</a:t>
            </a:r>
            <a:r>
              <a:rPr sz="1300" b="0" i="1">
                <a:solidFill>
                  <a:srgbClr val="7C756B"/>
                </a:solidFill>
                <a:latin typeface="Calibri"/>
              </a:rPr>
              <a:t>,   push cascade to  d ≥ 256,   close the gap toward 1.5029.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C756B"/>
                </a:solidFill>
                <a:latin typeface="Calibri"/>
              </a:rPr>
              <a:t>Piterbarg  ·  Bajaj  ·  Vincent        STAT 4830  —  Spring 2026</a:t>
            </a:r>
          </a:p>
        </p:txBody>
      </p:sp>
      <p:sp>
        <p:nvSpPr>
          <p:cNvPr id="11" name="Oval 10"/>
          <p:cNvSpPr/>
          <p:nvPr/>
        </p:nvSpPr>
        <p:spPr>
          <a:xfrm>
            <a:off x="11599164" y="6560820"/>
            <a:ext cx="82296" cy="82296"/>
          </a:xfrm>
          <a:prstGeom prst="ellipse">
            <a:avLst/>
          </a:prstGeom>
          <a:solidFill>
            <a:srgbClr val="1C19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434572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269980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105388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940796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776204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11612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447020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82428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117836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53244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788652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24060" y="6560820"/>
            <a:ext cx="82296" cy="82296"/>
          </a:xfrm>
          <a:prstGeom prst="ellipse">
            <a:avLst/>
          </a:prstGeom>
          <a:solidFill>
            <a:srgbClr val="D6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