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STAT 4830    ·    SPRING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143000"/>
            <a:ext cx="2377440" cy="0"/>
          </a:xfrm>
          <a:prstGeom prst="line">
            <a:avLst/>
          </a:prstGeom>
          <a:ln w="1397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1874519"/>
            <a:ext cx="1078992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0" i="0">
                <a:solidFill>
                  <a:srgbClr val="1C1917"/>
                </a:solidFill>
                <a:latin typeface="Georgia"/>
              </a:rPr>
              <a:t>Lower Bounds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0" i="1">
                <a:solidFill>
                  <a:srgbClr val="1C1917"/>
                </a:solidFill>
                <a:latin typeface="Georgia"/>
              </a:rPr>
              <a:t>Autoconvolution Constant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7C756B"/>
                </a:solidFill>
                <a:latin typeface="Calibri"/>
              </a:rPr>
              <a:t>Three parallel attacks on   </a:t>
            </a:r>
            <a:r>
              <a:rPr sz="2600" b="0" i="1">
                <a:solidFill>
                  <a:srgbClr val="1C1917"/>
                </a:solidFill>
                <a:latin typeface="Georgia"/>
              </a:rPr>
              <a:t>C₁ₐ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800600"/>
            <a:ext cx="1078992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4983480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Andrei Piterbarg     Jai Bajaj     Derrick Vincent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806440"/>
            <a:ext cx="457200" cy="109728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I.  Cascade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5806440"/>
            <a:ext cx="457200" cy="109728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II.  SDP certificate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5806440"/>
            <a:ext cx="457200" cy="109728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III.  MATLAB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How small can the peak of a normalized self-convolution be?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91640"/>
            <a:ext cx="57607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Given  </a:t>
            </a:r>
            <a:r>
              <a:rPr sz="1900" b="0" i="1">
                <a:solidFill>
                  <a:srgbClr val="25435F"/>
                </a:solidFill>
                <a:latin typeface="Georgia"/>
              </a:rPr>
              <a:t>f : ℝ → ℝ₊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  with  supp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f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  ⊆  [−¼, ¼]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and 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∫ f = 1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,   define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3400" b="0" i="1">
                <a:solidFill>
                  <a:srgbClr val="1C1917"/>
                </a:solidFill>
                <a:latin typeface="Georgia"/>
              </a:rPr>
              <a:t>C₁ₐ  =  inf  ‖ f ∗ f ‖∞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connected to Sidon  /  generalized Sidon set densities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best published bounds  have not moved  since 2017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every improvement is a real contribution</a:t>
            </a:r>
          </a:p>
        </p:txBody>
      </p:sp>
      <p:pic>
        <p:nvPicPr>
          <p:cNvPr id="7" name="Picture 6" descr="fig_autoconv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5394960" cy="151448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521208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349240"/>
            <a:ext cx="11064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C756B"/>
                </a:solidFill>
                <a:latin typeface="Calibri"/>
              </a:rPr>
              <a:t>BEST PUBLISHED BOUNDS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i="0">
                <a:solidFill>
                  <a:srgbClr val="25435F"/>
                </a:solidFill>
                <a:latin typeface="Georgia"/>
              </a:rPr>
              <a:t>1.2802</a:t>
            </a:r>
            <a:r>
              <a:rPr sz="2400" b="0" i="0">
                <a:solidFill>
                  <a:srgbClr val="7C756B"/>
                </a:solidFill>
                <a:latin typeface="Calibri"/>
              </a:rPr>
              <a:t>   ≤   </a:t>
            </a:r>
            <a:r>
              <a:rPr sz="2800" b="0" i="1">
                <a:solidFill>
                  <a:srgbClr val="1C1917"/>
                </a:solidFill>
                <a:latin typeface="Georgia"/>
              </a:rPr>
              <a:t>C₁ₐ</a:t>
            </a:r>
            <a:r>
              <a:rPr sz="2400" b="0" i="0">
                <a:solidFill>
                  <a:srgbClr val="7C756B"/>
                </a:solidFill>
                <a:latin typeface="Calibri"/>
              </a:rPr>
              <a:t>   ≤   </a:t>
            </a:r>
            <a:r>
              <a:rPr sz="2800" b="1" i="0">
                <a:solidFill>
                  <a:srgbClr val="8E3A38"/>
                </a:solidFill>
                <a:latin typeface="Georgia"/>
              </a:rPr>
              <a:t>1.5029</a:t>
            </a:r>
            <a:r>
              <a:rPr sz="1400" b="0" i="1">
                <a:solidFill>
                  <a:srgbClr val="7C756B"/>
                </a:solidFill>
                <a:latin typeface="Calibri"/>
              </a:rPr>
              <a:t>        unchanged since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2" name="Oval 11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§2 · PRIOR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Cloninger–Steinerberger 2017: branch-and-prune over Bₙ,ₘ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6858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1.  Discretize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partition  [−¼, ¼]  into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d = 2n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bins;  approximate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f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by a step function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g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with heights in  (1/m)ℕ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2.  Windowed test values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for each window  W,  lower-bound  ‖f ∗ f‖∞  by a quadratic form in the bin heights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3.  Prune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rule out any height vector whose test value exceeds the target threshold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4.  Exhaust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if all grid points are pruned, the bound is proved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3840480" cy="402336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772400" y="1737360"/>
            <a:ext cx="3840480" cy="0"/>
          </a:xfrm>
          <a:prstGeom prst="line">
            <a:avLst/>
          </a:prstGeom>
          <a:ln w="1651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74519"/>
            <a:ext cx="35661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C756B"/>
                </a:solidFill>
                <a:latin typeface="Calibri"/>
              </a:rPr>
              <a:t>PUBLISHED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286000"/>
            <a:ext cx="3566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i="0">
                <a:solidFill>
                  <a:srgbClr val="1C1917"/>
                </a:solidFill>
                <a:latin typeface="Georgia"/>
              </a:rPr>
              <a:t>C₁ₐ  ≥  1.2802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55279" y="3291840"/>
            <a:ext cx="20116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55279" y="3429000"/>
            <a:ext cx="35661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C1917"/>
                </a:solidFill>
                <a:latin typeface="Georgia"/>
              </a:rPr>
              <a:t>at  (n, m) = (24, 50),  d = 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840480"/>
            <a:ext cx="35661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C1917"/>
                </a:solidFill>
                <a:latin typeface="Georgia"/>
              </a:rPr>
              <a:t>≈ 20,000 CPU-hours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79" y="4526280"/>
            <a:ext cx="33832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79" y="4663440"/>
            <a:ext cx="356616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Correction term  2/m + 1/m²  controls the step-function approximation error.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8" name="Oval 17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§3 · OUR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Three independent attacks on one problem — plus an audit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three_t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64240" cy="3594711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525780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Independently we implemented a branch-and-prune cascade on GPU  (</a:t>
            </a:r>
            <a:r>
              <a:rPr sz="1400" b="1" i="0">
                <a:solidFill>
                  <a:srgbClr val="25435F"/>
                </a:solidFill>
                <a:latin typeface="Calibri"/>
              </a:rPr>
              <a:t>→ 1.4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),  built a Lasserre SDP certificate  (</a:t>
            </a:r>
            <a:r>
              <a:rPr sz="1400" b="1" i="0">
                <a:solidFill>
                  <a:srgbClr val="3A5445"/>
                </a:solidFill>
                <a:latin typeface="Calibri"/>
              </a:rPr>
              <a:t>→ 1.3, certified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),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and,  while reproducing the C&amp;S baseline,  audited the MATLAB code the authors shared  (</a:t>
            </a:r>
            <a:r>
              <a:rPr sz="1400" b="1" i="0">
                <a:solidFill>
                  <a:srgbClr val="8E3A38"/>
                </a:solidFill>
                <a:latin typeface="Calibri"/>
              </a:rPr>
              <a:t>→ this slide deck carries all three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TRACK I ·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Recursive refinement with novel pruning, fused GPU kernels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6126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25435F"/>
                </a:solidFill>
                <a:latin typeface="Georgia"/>
              </a:rPr>
              <a:t>Novel pruning bounds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contiguous-block sums catch interior concentrations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two-max enhanced bound — cross-term dominance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edge-pair cross-terms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c₀ · c_{d−1}</a:t>
            </a:r>
          </a:p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each bound proved, then compiled into the pruner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25435F"/>
                </a:solidFill>
                <a:latin typeface="Georgia"/>
              </a:rPr>
              <a:t>Fused CUDA kernel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everything on-GPU;  no global-memory round trips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early exit on partial convolution sums  (most compositions die cheap)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two-stage freeze kernel at deep levels — perturbation bound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   clears 90 %+ of frozen cases, avoiding warp divergence</a:t>
            </a:r>
          </a:p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C1917"/>
                </a:solidFill>
                <a:latin typeface="Calibri"/>
              </a:rPr>
              <a:t>·  10 × – 100 ×  speedup over the naive enumerator</a:t>
            </a:r>
          </a:p>
        </p:txBody>
      </p:sp>
      <p:pic>
        <p:nvPicPr>
          <p:cNvPr id="8" name="Picture 7" descr="fig_cascad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846320" cy="22178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TRACK I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Cascade pushes the lower bound from 1.2802 to 1.4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CASCADE   ·   GPU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03120"/>
            <a:ext cx="1645920" cy="0"/>
          </a:xfrm>
          <a:prstGeom prst="line">
            <a:avLst/>
          </a:prstGeom>
          <a:ln w="17780">
            <a:solidFill>
              <a:srgbClr val="254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331720"/>
            <a:ext cx="5943600" cy="1554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0" i="0">
                <a:solidFill>
                  <a:srgbClr val="1C1917"/>
                </a:solidFill>
                <a:latin typeface="Georgia"/>
              </a:rPr>
              <a:t>C₁ₐ ≥ 1.4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486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7C756B"/>
                </a:solidFill>
                <a:latin typeface="Calibri"/>
              </a:rPr>
              <a:t>at 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(d, m) = (128, 20)</a:t>
            </a:r>
          </a:p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7C756B"/>
                </a:solidFill>
                <a:latin typeface="Calibri"/>
              </a:rPr>
              <a:t>≈ 70 hours  on a 128-core machine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548640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44068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First significant lower-bound improvement since 2017.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Gap to upper bound  narrowed by ≈ 50 %  (0.22 → 0.10).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0" y="1783080"/>
            <a:ext cx="365760" cy="0"/>
          </a:xfrm>
          <a:prstGeom prst="line">
            <a:avLst/>
          </a:prstGeom>
          <a:ln w="17780">
            <a:solidFill>
              <a:srgbClr val="254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1965960"/>
            <a:ext cx="5029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TRADE-OFFS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212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What the cascade buys you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sharp in principle — exhaustive enumeration rules out every surviving point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scales to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 = 128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via symmetry reduction + GPU pruning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What it doesn't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exponential in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in the worst case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correctness rides on many small inequalities — each needs a proof</a:t>
            </a:r>
          </a:p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7C756B"/>
                </a:solidFill>
                <a:latin typeface="Calibri"/>
              </a:rPr>
              <a:t>·  motivated us to build a second, independent certifier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7" name="Oval 16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TRACK II · LASSERRE SDP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Continuous → polynomial → semidefinite   (no enumeration)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1.  Reduce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the infinite-dimensional problem on  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𝓕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to a polynomial minimization on the simplex: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1064240" cy="73152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1C1917"/>
                </a:solidFill>
                <a:latin typeface="Georgia"/>
              </a:rPr>
              <a:t>val(d)  =  minᵤ ∈ Δ_d    max_W    μᵀ M_W μ     ≤     C₁ₐ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2.  Relax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via the Lasserre hierarchy with localizing matrices: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11064240" cy="73152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1C1917"/>
                </a:solidFill>
                <a:latin typeface="Georgia"/>
              </a:rPr>
              <a:t>val⁽ᵏ⁾(d)    ≤    val⁽ᵏ⁺¹⁾(d)    ≤    val(d)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00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3.  Certify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a dual-feasible point of the order-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k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SDP whose objective exceeds the threshold.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553212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3A5445"/>
                </a:solidFill>
                <a:latin typeface="Georgia"/>
              </a:rPr>
              <a:t>Scaling lever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—   correlative sparsity  (Waki–Kim–Kojima–Muramatsu 2006).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7C756B"/>
                </a:solidFill>
                <a:latin typeface="Calibri"/>
              </a:rPr>
              <a:t>Chordal extension of the banded window graph yields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O(d)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overlapping cliques;  the dense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binom(d+k, k)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moment matrix is replaced by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O(d)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small blocks.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7" name="Oval 16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TRACK II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A certified lower bound with full rigor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ig_lasserr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6858000" cy="23991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297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CERTIFIED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2103120"/>
            <a:ext cx="1463040" cy="0"/>
          </a:xfrm>
          <a:prstGeom prst="line">
            <a:avLst/>
          </a:prstGeom>
          <a:ln w="17780">
            <a:solidFill>
              <a:srgbClr val="3A54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2286000"/>
            <a:ext cx="457200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 i="0">
                <a:solidFill>
                  <a:srgbClr val="1C1917"/>
                </a:solidFill>
                <a:latin typeface="Georgia"/>
              </a:rPr>
              <a:t>C₁ₐ ≥ 1.3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65760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7C756B"/>
                </a:solidFill>
                <a:latin typeface="Calibri"/>
              </a:rPr>
              <a:t>at  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(d, k) = (16, 3)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7C756B"/>
                </a:solidFill>
                <a:latin typeface="Calibri"/>
              </a:rPr>
              <a:t>MOSEK  ·  &lt; 10 minutes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0" y="4663440"/>
            <a:ext cx="42976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0" y="475488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3A5445"/>
                </a:solidFill>
                <a:latin typeface="Georgia"/>
              </a:rPr>
              <a:t>What we record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a single dual-feasible point  (y, Z, Λ)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post-processed via Jansson–Chaykin–Keil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   interval-arithmetic shift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auxiliary runs at  </a:t>
            </a:r>
            <a:r>
              <a:rPr sz="1200" b="0" i="1">
                <a:solidFill>
                  <a:srgbClr val="1C1917"/>
                </a:solidFill>
                <a:latin typeface="Georgia"/>
              </a:rPr>
              <a:t>d ∈ {32, 64, 128}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   under correlative sparsity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5" name="Oval 14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AUDITING THE C&amp;S MATLAB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code the authors shared — what it does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When we set out to reproduce the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C₁ₐ ≥ 1.2802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 baseline we ran the MATLAB file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Cloninger and Steinerberger shared  (</a:t>
            </a:r>
            <a:r>
              <a:rPr sz="1500" b="0" i="0">
                <a:solidFill>
                  <a:srgbClr val="1C1917"/>
                </a:solidFill>
                <a:latin typeface="Consolas"/>
              </a:rPr>
              <a:t>original_baseline_matlab.m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).  The published C&amp;S paper is </a:t>
            </a:r>
            <a:r>
              <a:rPr sz="1700" b="1" i="0">
                <a:solidFill>
                  <a:srgbClr val="1C1917"/>
                </a:solidFill>
                <a:latin typeface="Calibri"/>
              </a:rPr>
              <a:t>correct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—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it uses the fine height grid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B</a:t>
            </a:r>
            <a:r>
              <a:rPr sz="1200" b="0" i="1">
                <a:solidFill>
                  <a:srgbClr val="1C1917"/>
                </a:solidFill>
                <a:latin typeface="Georgia"/>
              </a:rPr>
              <a:t>n,m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 with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m = 50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The MATLAB file,  though,  parameterizes the search differently: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0515600" cy="182880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22960" y="4114800"/>
            <a:ext cx="10515600" cy="0"/>
          </a:xfrm>
          <a:prstGeom prst="line">
            <a:avLst/>
          </a:prstGeom>
          <a:ln w="16510">
            <a:solidFill>
              <a:srgbClr val="8E3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4297680"/>
            <a:ext cx="10149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C1917"/>
                </a:solidFill>
                <a:latin typeface="Georgia"/>
              </a:rPr>
              <a:t>In the paper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:    step-function  </a:t>
            </a:r>
            <a:r>
              <a:rPr sz="1500" b="0" i="1">
                <a:solidFill>
                  <a:srgbClr val="1C1917"/>
                </a:solidFill>
                <a:latin typeface="Georgia"/>
              </a:rPr>
              <a:t>heights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quantized in steps of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1/m = 0.02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In the code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:     bin  </a:t>
            </a:r>
            <a:r>
              <a:rPr sz="1500" b="0" i="1">
                <a:solidFill>
                  <a:srgbClr val="1C1917"/>
                </a:solidFill>
                <a:latin typeface="Georgia"/>
              </a:rPr>
              <a:t>masses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  quantized in steps of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0.02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 →   heights quantized in steps of   </a:t>
            </a:r>
            <a:r>
              <a:rPr sz="1500" b="1" i="0">
                <a:solidFill>
                  <a:srgbClr val="8E3A38"/>
                </a:solidFill>
                <a:latin typeface="Georgia"/>
              </a:rPr>
              <a:t>2d × 0.02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7C756B"/>
                </a:solidFill>
                <a:latin typeface="Georgia"/>
              </a:rPr>
              <a:t>Different parameterization.  Different height step.  Same correction formula.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3" name="Oval 12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Lemma 3 needs the height step;  the code plugs in the mass step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C1917"/>
                </a:solidFill>
                <a:latin typeface="Georgia"/>
              </a:rPr>
              <a:t>C&amp;S Lemma 3  gives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 i="1">
                <a:solidFill>
                  <a:srgbClr val="1C1917"/>
                </a:solidFill>
                <a:latin typeface="Georgia"/>
              </a:rPr>
              <a:t>(g ∗ g)(x)   ≤   (a ∗ a)(x)  +  2ε  +  ε²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where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ε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is a bound on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‖g − a‖∞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(a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height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difference).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In the MATLAB code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C1917"/>
                </a:solidFill>
                <a:latin typeface="Georgia"/>
              </a:rPr>
              <a:t>ε = 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(mass step),  but heights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hᵢ = 2d · massᵢ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so the true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‖g − a‖∞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≤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2d × 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   not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C1917"/>
                </a:solidFill>
                <a:latin typeface="Calibri"/>
              </a:rPr>
              <a:t>The code's pruning budget is too small by a factor of  </a:t>
            </a:r>
          </a:p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8E3A38"/>
                </a:solidFill>
                <a:latin typeface="Georgia"/>
              </a:rPr>
              <a:t>≈ 2d.</a:t>
            </a:r>
          </a:p>
        </p:txBody>
      </p:sp>
      <p:pic>
        <p:nvPicPr>
          <p:cNvPr id="8" name="Picture 7" descr="fig_correction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394960" cy="25311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THE CONSEQUENCE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code would "prove away" a known construction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57607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The check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Matolcsi–Vinuesa  (2010)  exhibit a continuous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f*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with</a:t>
            </a:r>
          </a:p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1C1917"/>
                </a:solidFill>
                <a:latin typeface="Georgia"/>
              </a:rPr>
              <a:t>‖f* ∗ f*‖∞  ≤  1.5029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So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C₁ₐ ≤ 1.5029</a:t>
            </a:r>
            <a:r>
              <a:rPr sz="1400" b="0" i="1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Point the MATLAB cascade at the threshold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1.51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: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interior-window budget stays at  ≈ 0.04  across levels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the step-function approximation of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f*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has self-convolution peaks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   that exceed 1.55 on narrow windows at moderate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the code therefore prunes every descendant of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f*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exhausted survivors  →  claim:  </a:t>
            </a:r>
            <a:r>
              <a:rPr sz="1300" b="1" i="1">
                <a:solidFill>
                  <a:srgbClr val="1C1917"/>
                </a:solidFill>
                <a:latin typeface="Georgia"/>
              </a:rPr>
              <a:t>C₁ₐ ≥ 1.51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But  </a:t>
            </a:r>
            <a:r>
              <a:rPr sz="1500" b="1" i="1">
                <a:solidFill>
                  <a:srgbClr val="8E3A38"/>
                </a:solidFill>
                <a:latin typeface="Georgia"/>
              </a:rPr>
              <a:t>1.51 &gt; 1.5029 ≥ C₁ₐ</a:t>
            </a:r>
            <a:r>
              <a:rPr sz="1500" b="1" i="0">
                <a:solidFill>
                  <a:srgbClr val="8E3A38"/>
                </a:solidFill>
                <a:latin typeface="Georgia"/>
              </a:rPr>
              <a:t>.    Contradiction.</a:t>
            </a:r>
          </a:p>
        </p:txBody>
      </p:sp>
      <p:pic>
        <p:nvPicPr>
          <p:cNvPr id="8" name="Picture 7" descr="fig_effective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212080" cy="2267402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675120" y="5303520"/>
            <a:ext cx="52120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40680"/>
            <a:ext cx="521208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7C756B"/>
                </a:solidFill>
                <a:latin typeface="Calibri"/>
              </a:rPr>
              <a:t>The effective fine-grid  m  in C&amp;S units is  1 / (2dε)  — it drops below 1 by  d ≈ 25, at which point Lemma 3 says nothing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2" name="Oval 11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WHAT WE ARE SAYING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paper stands;  the shared MATLAB file does not prove 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1917"/>
                </a:solidFill>
                <a:latin typeface="Calibri"/>
              </a:rPr>
              <a:t>THE PAPER IS FINE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011680"/>
            <a:ext cx="1463040" cy="0"/>
          </a:xfrm>
          <a:prstGeom prst="line">
            <a:avLst/>
          </a:prstGeom>
          <a:ln w="1651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194560"/>
            <a:ext cx="53949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C&amp;S 2017 work on the fine height grid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B</a:t>
            </a:r>
            <a:r>
              <a:rPr sz="1000" b="0" i="1">
                <a:solidFill>
                  <a:srgbClr val="1C1917"/>
                </a:solidFill>
                <a:latin typeface="Georgia"/>
              </a:rPr>
              <a:t>n,m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where Lemma 3's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2/m + 1/m²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correction is legitimate.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The published bound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1.2802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is not in doubt.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The MATLAB artifact is a different animal: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it enumerates a coarser mass grid, but ports the paper's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correction formula verbatim.  That combination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cannot certify the paper's bound, and as shown would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certify bounds that contradict the MV upper bound.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TWO LIVE HYPOTHESES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55080" y="2011680"/>
            <a:ext cx="1463040" cy="0"/>
          </a:xfrm>
          <a:prstGeom prst="line">
            <a:avLst/>
          </a:prstGeom>
          <a:ln w="16510">
            <a:solidFill>
              <a:srgbClr val="8E3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080" y="2194560"/>
            <a:ext cx="53949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C1917"/>
                </a:solidFill>
                <a:latin typeface="Georgia"/>
              </a:rPr>
              <a:t>(a)  They sent us an early prototype.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The published bound was run on a separate fine-grid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enumerator;  the coarse-mass file is a speed-oriented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variant never meant to be the proof vehicle.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C1917"/>
                </a:solidFill>
                <a:latin typeface="Georgia"/>
              </a:rPr>
              <a:t>(b)  A derivation we're missing.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A mass-space bound that avoids the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2d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factor — 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unlikely, but worth asking about before we conclude.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7C756B"/>
                </a:solidFill>
                <a:latin typeface="Georgia"/>
              </a:rPr>
              <a:t>Either way,  this is a narrow claim about one file.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We fixed the analogous bug in our own Python port on 2026-04-07 — switched to the fine grid, which is what makes the cascade's 1.4 sound.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6" name="Oval 15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§4 ·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Where C₁ₐ stands after this project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bounds_numb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554480"/>
            <a:ext cx="8686800" cy="2585357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402336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THREE DELIVERABLES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 i="0">
                <a:solidFill>
                  <a:srgbClr val="25435F"/>
                </a:solidFill>
                <a:latin typeface="Georgia"/>
              </a:rPr>
              <a:t>I.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Cascade on GPU</a:t>
            </a:r>
            <a:r>
              <a:rPr sz="1400" b="0" i="0">
                <a:solidFill>
                  <a:srgbClr val="7C756B"/>
                </a:solidFill>
                <a:latin typeface="Calibri"/>
              </a:rPr>
              <a:t>   —   </a:t>
            </a:r>
            <a:r>
              <a:rPr sz="1500" b="1" i="1">
                <a:solidFill>
                  <a:srgbClr val="25435F"/>
                </a:solidFill>
                <a:latin typeface="Georgia"/>
              </a:rPr>
              <a:t>C₁ₐ ≥ 1.4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via novel pruning bounds + fused CUDA kernels.</a:t>
            </a:r>
          </a:p>
          <a:p>
            <a:pPr algn="l">
              <a:lnSpc>
                <a:spcPct val="145000"/>
              </a:lnSpc>
            </a:pPr>
            <a:r>
              <a:rPr sz="1500" b="1" i="0">
                <a:solidFill>
                  <a:srgbClr val="3A5445"/>
                </a:solidFill>
                <a:latin typeface="Georgia"/>
              </a:rPr>
              <a:t>II.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Lasserre SDP certificate</a:t>
            </a:r>
            <a:r>
              <a:rPr sz="1400" b="0" i="0">
                <a:solidFill>
                  <a:srgbClr val="7C756B"/>
                </a:solidFill>
                <a:latin typeface="Calibri"/>
              </a:rPr>
              <a:t>   —   </a:t>
            </a:r>
            <a:r>
              <a:rPr sz="1500" b="1" i="1">
                <a:solidFill>
                  <a:srgbClr val="3A5445"/>
                </a:solidFill>
                <a:latin typeface="Georgia"/>
              </a:rPr>
              <a:t>C₁ₐ ≥ 1.3  (certified)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at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(d, k) = (16, 3)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in under 10 minutes.</a:t>
            </a:r>
          </a:p>
          <a:p>
            <a:pPr algn="l">
              <a:lnSpc>
                <a:spcPct val="145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III.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MATLAB audit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—   the shared C&amp;S artifact confuses the mass step for the height step; </a:t>
            </a:r>
            <a:r>
              <a:rPr sz="1400" b="0" i="1">
                <a:solidFill>
                  <a:srgbClr val="1C1917"/>
                </a:solidFill>
                <a:latin typeface="Calibri"/>
              </a:rPr>
              <a:t>the published paper is unaffected.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7C756B"/>
                </a:solidFill>
                <a:latin typeface="Calibri"/>
              </a:rPr>
              <a:t>Next:   formal write-ups for both proofs in  </a:t>
            </a:r>
            <a:r>
              <a:rPr sz="1300" b="0" i="0">
                <a:solidFill>
                  <a:srgbClr val="7C756B"/>
                </a:solidFill>
                <a:latin typeface="Consolas"/>
              </a:rPr>
              <a:t>proof/</a:t>
            </a:r>
            <a:r>
              <a:rPr sz="1300" b="0" i="1">
                <a:solidFill>
                  <a:srgbClr val="7C756B"/>
                </a:solidFill>
                <a:latin typeface="Calibri"/>
              </a:rPr>
              <a:t>,   push cascade to  d ≥ 256,   close the gap toward 1.5029.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1" name="Oval 10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